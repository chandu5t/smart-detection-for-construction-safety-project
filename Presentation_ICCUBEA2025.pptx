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ED7837-6BFD-48BB-8216-D878B6C9C336}">
  <a:tblStyle styleId="{BBED7837-6BFD-48BB-8216-D878B6C9C33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683b98386_0_6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b5fc6328f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37b5fc6328f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b5fc6328f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7b5fc6328f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b5fc6328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g37b5fc6328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b5fc6328f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7b5fc6328f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7683b9838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2" name="Google Shape;422;g37683b9838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b5fc6328f_0_1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37b5fc6328f_0_1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b5fc6328f_0_1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7b5fc6328f_0_1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b5fc6328f_0_1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37b5fc6328f_0_1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b5fc6328f_0_1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7b5fc6328f_0_1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7b5fc6328f_0_1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7b5fc6328f_0_1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b5fc6328f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g37b5fc6328f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683b98386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5" name="Google Shape;505;g37683b9838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101520" y="68040"/>
            <a:ext cx="11065200" cy="3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3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2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4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2"/>
          </p:nvPr>
        </p:nvSpPr>
        <p:spPr>
          <a:xfrm>
            <a:off x="415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3"/>
          </p:nvPr>
        </p:nvSpPr>
        <p:spPr>
          <a:xfrm>
            <a:off x="820116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4"/>
          </p:nvPr>
        </p:nvSpPr>
        <p:spPr>
          <a:xfrm>
            <a:off x="10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5"/>
          </p:nvPr>
        </p:nvSpPr>
        <p:spPr>
          <a:xfrm>
            <a:off x="415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6"/>
          </p:nvPr>
        </p:nvSpPr>
        <p:spPr>
          <a:xfrm>
            <a:off x="820116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C">
  <p:cSld name="TITLE_AND_BODY_2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>
            <a:spLocks noGrp="1"/>
          </p:cNvSpPr>
          <p:nvPr>
            <p:ph type="pic" idx="2"/>
          </p:nvPr>
        </p:nvSpPr>
        <p:spPr>
          <a:xfrm>
            <a:off x="4298349" y="316350"/>
            <a:ext cx="4510800" cy="4510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G">
  <p:cSld name="TITLE_AND_BODY_2_1_1_1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>
            <a:spLocks noGrp="1"/>
          </p:cNvSpPr>
          <p:nvPr>
            <p:ph type="pic" idx="2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E">
  <p:cSld name="TITLE_AND_BODY_2_1_1_1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>
            <a:spLocks noGrp="1"/>
          </p:cNvSpPr>
          <p:nvPr>
            <p:ph type="pic" idx="2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subTitle" idx="1"/>
          </p:nvPr>
        </p:nvSpPr>
        <p:spPr>
          <a:xfrm>
            <a:off x="101520" y="68040"/>
            <a:ext cx="11065200" cy="3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3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2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4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2"/>
          </p:nvPr>
        </p:nvSpPr>
        <p:spPr>
          <a:xfrm>
            <a:off x="415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body" idx="3"/>
          </p:nvPr>
        </p:nvSpPr>
        <p:spPr>
          <a:xfrm>
            <a:off x="820116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4"/>
          </p:nvPr>
        </p:nvSpPr>
        <p:spPr>
          <a:xfrm>
            <a:off x="10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5"/>
          </p:nvPr>
        </p:nvSpPr>
        <p:spPr>
          <a:xfrm>
            <a:off x="415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6"/>
          </p:nvPr>
        </p:nvSpPr>
        <p:spPr>
          <a:xfrm>
            <a:off x="820116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2"/>
          <p:cNvSpPr txBox="1">
            <a:spLocks noGrp="1"/>
          </p:cNvSpPr>
          <p:nvPr>
            <p:ph type="subTitle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4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5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>
            <a:spLocks noGrp="1"/>
          </p:cNvSpPr>
          <p:nvPr>
            <p:ph type="subTitle" idx="1"/>
          </p:nvPr>
        </p:nvSpPr>
        <p:spPr>
          <a:xfrm>
            <a:off x="101520" y="68040"/>
            <a:ext cx="11065200" cy="3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6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6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6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8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body" idx="3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8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9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9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9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39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body" idx="2"/>
          </p:nvPr>
        </p:nvSpPr>
        <p:spPr>
          <a:xfrm>
            <a:off x="101520" y="3765600"/>
            <a:ext cx="119784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0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1"/>
          <p:cNvSpPr txBox="1">
            <a:spLocks noGrp="1"/>
          </p:cNvSpPr>
          <p:nvPr>
            <p:ph type="body" idx="2"/>
          </p:nvPr>
        </p:nvSpPr>
        <p:spPr>
          <a:xfrm>
            <a:off x="6239520" y="103896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1"/>
          <p:cNvSpPr txBox="1">
            <a:spLocks noGrp="1"/>
          </p:cNvSpPr>
          <p:nvPr>
            <p:ph type="body" idx="3"/>
          </p:nvPr>
        </p:nvSpPr>
        <p:spPr>
          <a:xfrm>
            <a:off x="101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1"/>
          <p:cNvSpPr txBox="1">
            <a:spLocks noGrp="1"/>
          </p:cNvSpPr>
          <p:nvPr>
            <p:ph type="body" idx="4"/>
          </p:nvPr>
        </p:nvSpPr>
        <p:spPr>
          <a:xfrm>
            <a:off x="6239520" y="3765600"/>
            <a:ext cx="5845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41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1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41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type="body" idx="2"/>
          </p:nvPr>
        </p:nvSpPr>
        <p:spPr>
          <a:xfrm>
            <a:off x="415152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2"/>
          <p:cNvSpPr txBox="1">
            <a:spLocks noGrp="1"/>
          </p:cNvSpPr>
          <p:nvPr>
            <p:ph type="body" idx="3"/>
          </p:nvPr>
        </p:nvSpPr>
        <p:spPr>
          <a:xfrm>
            <a:off x="8201160" y="103896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2"/>
          <p:cNvSpPr txBox="1">
            <a:spLocks noGrp="1"/>
          </p:cNvSpPr>
          <p:nvPr>
            <p:ph type="body" idx="4"/>
          </p:nvPr>
        </p:nvSpPr>
        <p:spPr>
          <a:xfrm>
            <a:off x="10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2"/>
          <p:cNvSpPr txBox="1">
            <a:spLocks noGrp="1"/>
          </p:cNvSpPr>
          <p:nvPr>
            <p:ph type="body" idx="5"/>
          </p:nvPr>
        </p:nvSpPr>
        <p:spPr>
          <a:xfrm>
            <a:off x="415152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2"/>
          <p:cNvSpPr txBox="1">
            <a:spLocks noGrp="1"/>
          </p:cNvSpPr>
          <p:nvPr>
            <p:ph type="body" idx="6"/>
          </p:nvPr>
        </p:nvSpPr>
        <p:spPr>
          <a:xfrm>
            <a:off x="8201160" y="3765600"/>
            <a:ext cx="38568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2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2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42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216520" y="20160"/>
            <a:ext cx="934199" cy="7790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700" cy="23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07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216520" y="20160"/>
            <a:ext cx="934199" cy="7790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0" y="874080"/>
            <a:ext cx="11167200" cy="66600"/>
            <a:chOff x="0" y="874080"/>
            <a:chExt cx="11167200" cy="66600"/>
          </a:xfrm>
        </p:grpSpPr>
        <p:sp>
          <p:nvSpPr>
            <p:cNvPr id="104" name="Google Shape;104;p14"/>
            <p:cNvSpPr/>
            <p:nvPr/>
          </p:nvSpPr>
          <p:spPr>
            <a:xfrm>
              <a:off x="9423000" y="874080"/>
              <a:ext cx="1744200" cy="6660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0" y="874080"/>
              <a:ext cx="9340200" cy="66600"/>
            </a:xfrm>
            <a:prstGeom prst="rect">
              <a:avLst/>
            </a:prstGeom>
            <a:solidFill>
              <a:srgbClr val="31859B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216520" y="20160"/>
            <a:ext cx="934199" cy="779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101520" y="68040"/>
            <a:ext cx="110652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dt" idx="10"/>
          </p:nvPr>
        </p:nvSpPr>
        <p:spPr>
          <a:xfrm>
            <a:off x="10152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ftr" idx="11"/>
          </p:nvPr>
        </p:nvSpPr>
        <p:spPr>
          <a:xfrm>
            <a:off x="4038480" y="6523560"/>
            <a:ext cx="411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9" name="Google Shape;209;p30"/>
          <p:cNvGrpSpPr/>
          <p:nvPr/>
        </p:nvGrpSpPr>
        <p:grpSpPr>
          <a:xfrm>
            <a:off x="0" y="874080"/>
            <a:ext cx="11167200" cy="66600"/>
            <a:chOff x="0" y="874080"/>
            <a:chExt cx="11167200" cy="66600"/>
          </a:xfrm>
        </p:grpSpPr>
        <p:sp>
          <p:nvSpPr>
            <p:cNvPr id="210" name="Google Shape;210;p30"/>
            <p:cNvSpPr/>
            <p:nvPr/>
          </p:nvSpPr>
          <p:spPr>
            <a:xfrm>
              <a:off x="9423000" y="874080"/>
              <a:ext cx="1744200" cy="6660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0" y="874080"/>
              <a:ext cx="9340200" cy="66600"/>
            </a:xfrm>
            <a:prstGeom prst="rect">
              <a:avLst/>
            </a:prstGeom>
            <a:solidFill>
              <a:srgbClr val="31859B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4.01888" TargetMode="External"/><Relationship Id="rId3" Type="http://schemas.openxmlformats.org/officeDocument/2006/relationships/hyperlink" Target="https://www.osha.gov/data/commonstats" TargetMode="External"/><Relationship Id="rId7" Type="http://schemas.openxmlformats.org/officeDocument/2006/relationships/hyperlink" Target="https://deus-ex-machina-ism.com/?p=74479&amp;lang=e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irjmets.com/uploadedfiles/paper/issue_2_february_2025/68379/final/fin_irjmets1740922876.pdf" TargetMode="External"/><Relationship Id="rId5" Type="http://schemas.openxmlformats.org/officeDocument/2006/relationships/hyperlink" Target="https://www.mckinsey.com/capabilities/operations/our-insights/prediction-at-scale-how-industry-can-get-more-value-out-of-maintenance" TargetMode="External"/><Relationship Id="rId4" Type="http://schemas.openxmlformats.org/officeDocument/2006/relationships/hyperlink" Target="https://www.ilo.org/resource/news/nearly-3-million-people-die-work-related-accidents-and-disease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ICIP.2016.7533003" TargetMode="External"/><Relationship Id="rId3" Type="http://schemas.openxmlformats.org/officeDocument/2006/relationships/hyperlink" Target="https://www.osha.gov/data/commonstats" TargetMode="External"/><Relationship Id="rId7" Type="http://schemas.openxmlformats.org/officeDocument/2006/relationships/hyperlink" Target="https://arxiv.org/abs/1611.0805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doi.org/10.1016/j.autcon.2020.103085" TargetMode="External"/><Relationship Id="rId5" Type="http://schemas.openxmlformats.org/officeDocument/2006/relationships/hyperlink" Target="https://arxiv.org/abs/2004.10934" TargetMode="External"/><Relationship Id="rId10" Type="http://schemas.openxmlformats.org/officeDocument/2006/relationships/hyperlink" Target="https://docs.ultralytics.com/models/yolov8/" TargetMode="External"/><Relationship Id="rId4" Type="http://schemas.openxmlformats.org/officeDocument/2006/relationships/hyperlink" Target="https://arxiv.org/abs/1804.02767" TargetMode="External"/><Relationship Id="rId9" Type="http://schemas.openxmlformats.org/officeDocument/2006/relationships/hyperlink" Target="https://arxiv.org/abs/2110.0686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1108440" y="1420920"/>
            <a:ext cx="9929880" cy="1285920"/>
          </a:xfrm>
          <a:prstGeom prst="rect">
            <a:avLst/>
          </a:prstGeom>
          <a:noFill/>
          <a:ln>
            <a:noFill/>
          </a:ln>
          <a:effectLst>
            <a:outerShdw blurRad="57960" dist="32904" dir="3180283" rotWithShape="0">
              <a:srgbClr val="000000">
                <a:alpha val="2941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 sz="2800" b="1" strike="noStrike" baseline="300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1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International Conference on Computing, Communication, Control and Automation </a:t>
            </a:r>
            <a:br>
              <a:rPr lang="en-US" sz="2800"/>
            </a:br>
            <a:r>
              <a:rPr lang="en-US" sz="3200" b="1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(ICCUBEA-202</a:t>
            </a: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1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3200" b="0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2242440" y="89280"/>
            <a:ext cx="7706880" cy="800280"/>
          </a:xfrm>
          <a:prstGeom prst="rect">
            <a:avLst/>
          </a:prstGeom>
          <a:noFill/>
          <a:ln>
            <a:noFill/>
          </a:ln>
          <a:effectLst>
            <a:outerShdw blurRad="44280" dist="2808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Pimpri Chinchwad Education Trust’s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1155CC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Pimpri Chinchwad College of Engineering, Pune</a:t>
            </a:r>
            <a:endParaRPr sz="2800" b="0" i="0" u="none" strike="noStrike" cap="none">
              <a:solidFill>
                <a:srgbClr val="66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43"/>
          <p:cNvGrpSpPr/>
          <p:nvPr/>
        </p:nvGrpSpPr>
        <p:grpSpPr>
          <a:xfrm>
            <a:off x="3084480" y="1012680"/>
            <a:ext cx="6022440" cy="66600"/>
            <a:chOff x="3084480" y="1012680"/>
            <a:chExt cx="6022440" cy="66600"/>
          </a:xfrm>
        </p:grpSpPr>
        <p:sp>
          <p:nvSpPr>
            <p:cNvPr id="303" name="Google Shape;303;p43"/>
            <p:cNvSpPr/>
            <p:nvPr/>
          </p:nvSpPr>
          <p:spPr>
            <a:xfrm>
              <a:off x="8166600" y="1012680"/>
              <a:ext cx="940320" cy="6660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3"/>
            <p:cNvSpPr/>
            <p:nvPr/>
          </p:nvSpPr>
          <p:spPr>
            <a:xfrm>
              <a:off x="3084480" y="1012680"/>
              <a:ext cx="5037480" cy="66600"/>
            </a:xfrm>
            <a:prstGeom prst="rect">
              <a:avLst/>
            </a:prstGeom>
            <a:solidFill>
              <a:srgbClr val="31859B"/>
            </a:solidFill>
            <a:ln>
              <a:noFill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43"/>
          <p:cNvSpPr/>
          <p:nvPr/>
        </p:nvSpPr>
        <p:spPr>
          <a:xfrm>
            <a:off x="919838" y="3046200"/>
            <a:ext cx="10307100" cy="31380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By: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Kaustubh Warme</a:t>
            </a:r>
            <a:endParaRPr sz="1800" i="0" u="none" strike="noStrike" cap="non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1006</a:t>
            </a:r>
            <a:endParaRPr sz="1800" i="0" u="none" strike="noStrike" cap="non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TITLE :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Vision-Based Safety Monitoring at Construction Sites Using YOLOv8 and Human Pose Estimation</a:t>
            </a:r>
            <a:endParaRPr sz="1800" i="0" u="none" strike="noStrike" cap="non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 Name :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Shubhankar Jakate, Chandrakant Thakare, Pratiksha Deshmukh, Kaustubh Warme, Anuradha Yenkikar, Nilesh P. Sable.</a:t>
            </a:r>
            <a:endParaRPr sz="1800" i="0" u="none" strike="noStrike" cap="non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BRACT’s Vishwakarma Institute of Information Technology, Pune, India.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43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>
            <a:spLocks noGrp="1"/>
          </p:cNvSpPr>
          <p:nvPr>
            <p:ph type="title" idx="4294967295"/>
          </p:nvPr>
        </p:nvSpPr>
        <p:spPr>
          <a:xfrm>
            <a:off x="101520" y="68040"/>
            <a:ext cx="11065320" cy="71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4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3" name="Google Shape;313;p44"/>
          <p:cNvGrpSpPr/>
          <p:nvPr/>
        </p:nvGrpSpPr>
        <p:grpSpPr>
          <a:xfrm>
            <a:off x="1555958" y="1135761"/>
            <a:ext cx="6917055" cy="492760"/>
            <a:chOff x="1236408" y="1359661"/>
            <a:chExt cx="6917055" cy="492760"/>
          </a:xfrm>
        </p:grpSpPr>
        <p:sp>
          <p:nvSpPr>
            <p:cNvPr id="314" name="Google Shape;314;p44"/>
            <p:cNvSpPr/>
            <p:nvPr/>
          </p:nvSpPr>
          <p:spPr>
            <a:xfrm>
              <a:off x="1236408" y="1359661"/>
              <a:ext cx="6917055" cy="492760"/>
            </a:xfrm>
            <a:custGeom>
              <a:avLst/>
              <a:gdLst/>
              <a:ahLst/>
              <a:cxnLst/>
              <a:rect l="l" t="t" r="r" b="b"/>
              <a:pathLst>
                <a:path w="6917055" h="492760" extrusionOk="0">
                  <a:moveTo>
                    <a:pt x="6834949" y="0"/>
                  </a:moveTo>
                  <a:lnTo>
                    <a:pt x="82105" y="0"/>
                  </a:lnTo>
                  <a:lnTo>
                    <a:pt x="50149" y="6443"/>
                  </a:lnTo>
                  <a:lnTo>
                    <a:pt x="24050" y="24018"/>
                  </a:lnTo>
                  <a:lnTo>
                    <a:pt x="6453" y="50095"/>
                  </a:lnTo>
                  <a:lnTo>
                    <a:pt x="0" y="82041"/>
                  </a:lnTo>
                  <a:lnTo>
                    <a:pt x="0" y="410337"/>
                  </a:lnTo>
                  <a:lnTo>
                    <a:pt x="6453" y="442283"/>
                  </a:lnTo>
                  <a:lnTo>
                    <a:pt x="24050" y="468360"/>
                  </a:lnTo>
                  <a:lnTo>
                    <a:pt x="50149" y="485935"/>
                  </a:lnTo>
                  <a:lnTo>
                    <a:pt x="82105" y="492378"/>
                  </a:lnTo>
                  <a:lnTo>
                    <a:pt x="6834949" y="492378"/>
                  </a:lnTo>
                  <a:lnTo>
                    <a:pt x="6866895" y="485935"/>
                  </a:lnTo>
                  <a:lnTo>
                    <a:pt x="6892972" y="468360"/>
                  </a:lnTo>
                  <a:lnTo>
                    <a:pt x="6910548" y="442283"/>
                  </a:lnTo>
                  <a:lnTo>
                    <a:pt x="6916991" y="410337"/>
                  </a:lnTo>
                  <a:lnTo>
                    <a:pt x="6916991" y="82041"/>
                  </a:lnTo>
                  <a:lnTo>
                    <a:pt x="6910548" y="50095"/>
                  </a:lnTo>
                  <a:lnTo>
                    <a:pt x="6892972" y="24018"/>
                  </a:lnTo>
                  <a:lnTo>
                    <a:pt x="6866895" y="6443"/>
                  </a:lnTo>
                  <a:lnTo>
                    <a:pt x="6834949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1236408" y="1359661"/>
              <a:ext cx="6917055" cy="492760"/>
            </a:xfrm>
            <a:custGeom>
              <a:avLst/>
              <a:gdLst/>
              <a:ahLst/>
              <a:cxnLst/>
              <a:rect l="l" t="t" r="r" b="b"/>
              <a:pathLst>
                <a:path w="6917055" h="492760" extrusionOk="0">
                  <a:moveTo>
                    <a:pt x="0" y="82041"/>
                  </a:moveTo>
                  <a:lnTo>
                    <a:pt x="6453" y="50095"/>
                  </a:lnTo>
                  <a:lnTo>
                    <a:pt x="24050" y="24018"/>
                  </a:lnTo>
                  <a:lnTo>
                    <a:pt x="50149" y="6443"/>
                  </a:lnTo>
                  <a:lnTo>
                    <a:pt x="82105" y="0"/>
                  </a:lnTo>
                  <a:lnTo>
                    <a:pt x="6834949" y="0"/>
                  </a:lnTo>
                  <a:lnTo>
                    <a:pt x="6866895" y="6443"/>
                  </a:lnTo>
                  <a:lnTo>
                    <a:pt x="6892972" y="24018"/>
                  </a:lnTo>
                  <a:lnTo>
                    <a:pt x="6910548" y="50095"/>
                  </a:lnTo>
                  <a:lnTo>
                    <a:pt x="6916991" y="82041"/>
                  </a:lnTo>
                  <a:lnTo>
                    <a:pt x="6916991" y="410337"/>
                  </a:lnTo>
                  <a:lnTo>
                    <a:pt x="6910548" y="442283"/>
                  </a:lnTo>
                  <a:lnTo>
                    <a:pt x="6892972" y="468360"/>
                  </a:lnTo>
                  <a:lnTo>
                    <a:pt x="6866895" y="485935"/>
                  </a:lnTo>
                  <a:lnTo>
                    <a:pt x="6834949" y="492378"/>
                  </a:lnTo>
                  <a:lnTo>
                    <a:pt x="82105" y="492378"/>
                  </a:lnTo>
                  <a:lnTo>
                    <a:pt x="50149" y="485935"/>
                  </a:lnTo>
                  <a:lnTo>
                    <a:pt x="24050" y="468360"/>
                  </a:lnTo>
                  <a:lnTo>
                    <a:pt x="6453" y="442283"/>
                  </a:lnTo>
                  <a:lnTo>
                    <a:pt x="0" y="410337"/>
                  </a:lnTo>
                  <a:lnTo>
                    <a:pt x="0" y="82041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44"/>
          <p:cNvGrpSpPr/>
          <p:nvPr/>
        </p:nvGrpSpPr>
        <p:grpSpPr>
          <a:xfrm>
            <a:off x="1537508" y="1842085"/>
            <a:ext cx="6917055" cy="492760"/>
            <a:chOff x="1236408" y="2024760"/>
            <a:chExt cx="6917055" cy="492760"/>
          </a:xfrm>
        </p:grpSpPr>
        <p:sp>
          <p:nvSpPr>
            <p:cNvPr id="317" name="Google Shape;317;p44"/>
            <p:cNvSpPr/>
            <p:nvPr/>
          </p:nvSpPr>
          <p:spPr>
            <a:xfrm>
              <a:off x="1236408" y="2024760"/>
              <a:ext cx="6917055" cy="492760"/>
            </a:xfrm>
            <a:custGeom>
              <a:avLst/>
              <a:gdLst/>
              <a:ahLst/>
              <a:cxnLst/>
              <a:rect l="l" t="t" r="r" b="b"/>
              <a:pathLst>
                <a:path w="6917055" h="492760" extrusionOk="0">
                  <a:moveTo>
                    <a:pt x="6834949" y="0"/>
                  </a:moveTo>
                  <a:lnTo>
                    <a:pt x="82105" y="0"/>
                  </a:lnTo>
                  <a:lnTo>
                    <a:pt x="50149" y="6443"/>
                  </a:lnTo>
                  <a:lnTo>
                    <a:pt x="24050" y="24018"/>
                  </a:lnTo>
                  <a:lnTo>
                    <a:pt x="6453" y="50095"/>
                  </a:lnTo>
                  <a:lnTo>
                    <a:pt x="0" y="82041"/>
                  </a:lnTo>
                  <a:lnTo>
                    <a:pt x="0" y="410337"/>
                  </a:lnTo>
                  <a:lnTo>
                    <a:pt x="6453" y="442283"/>
                  </a:lnTo>
                  <a:lnTo>
                    <a:pt x="24050" y="468360"/>
                  </a:lnTo>
                  <a:lnTo>
                    <a:pt x="50149" y="485935"/>
                  </a:lnTo>
                  <a:lnTo>
                    <a:pt x="82105" y="492378"/>
                  </a:lnTo>
                  <a:lnTo>
                    <a:pt x="6834949" y="492378"/>
                  </a:lnTo>
                  <a:lnTo>
                    <a:pt x="6866895" y="485935"/>
                  </a:lnTo>
                  <a:lnTo>
                    <a:pt x="6892972" y="468360"/>
                  </a:lnTo>
                  <a:lnTo>
                    <a:pt x="6910548" y="442283"/>
                  </a:lnTo>
                  <a:lnTo>
                    <a:pt x="6916991" y="410337"/>
                  </a:lnTo>
                  <a:lnTo>
                    <a:pt x="6916991" y="82041"/>
                  </a:lnTo>
                  <a:lnTo>
                    <a:pt x="6910548" y="50095"/>
                  </a:lnTo>
                  <a:lnTo>
                    <a:pt x="6892972" y="24018"/>
                  </a:lnTo>
                  <a:lnTo>
                    <a:pt x="6866895" y="6443"/>
                  </a:lnTo>
                  <a:lnTo>
                    <a:pt x="6834949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1236408" y="2024760"/>
              <a:ext cx="6917055" cy="492760"/>
            </a:xfrm>
            <a:custGeom>
              <a:avLst/>
              <a:gdLst/>
              <a:ahLst/>
              <a:cxnLst/>
              <a:rect l="l" t="t" r="r" b="b"/>
              <a:pathLst>
                <a:path w="6917055" h="492760" extrusionOk="0">
                  <a:moveTo>
                    <a:pt x="0" y="82041"/>
                  </a:moveTo>
                  <a:lnTo>
                    <a:pt x="6453" y="50095"/>
                  </a:lnTo>
                  <a:lnTo>
                    <a:pt x="24050" y="24018"/>
                  </a:lnTo>
                  <a:lnTo>
                    <a:pt x="50149" y="6443"/>
                  </a:lnTo>
                  <a:lnTo>
                    <a:pt x="82105" y="0"/>
                  </a:lnTo>
                  <a:lnTo>
                    <a:pt x="6834949" y="0"/>
                  </a:lnTo>
                  <a:lnTo>
                    <a:pt x="6866895" y="6443"/>
                  </a:lnTo>
                  <a:lnTo>
                    <a:pt x="6892972" y="24018"/>
                  </a:lnTo>
                  <a:lnTo>
                    <a:pt x="6910548" y="50095"/>
                  </a:lnTo>
                  <a:lnTo>
                    <a:pt x="6916991" y="82041"/>
                  </a:lnTo>
                  <a:lnTo>
                    <a:pt x="6916991" y="410337"/>
                  </a:lnTo>
                  <a:lnTo>
                    <a:pt x="6910548" y="442283"/>
                  </a:lnTo>
                  <a:lnTo>
                    <a:pt x="6892972" y="468360"/>
                  </a:lnTo>
                  <a:lnTo>
                    <a:pt x="6866895" y="485935"/>
                  </a:lnTo>
                  <a:lnTo>
                    <a:pt x="6834949" y="492378"/>
                  </a:lnTo>
                  <a:lnTo>
                    <a:pt x="82105" y="492378"/>
                  </a:lnTo>
                  <a:lnTo>
                    <a:pt x="50149" y="485935"/>
                  </a:lnTo>
                  <a:lnTo>
                    <a:pt x="24050" y="468360"/>
                  </a:lnTo>
                  <a:lnTo>
                    <a:pt x="6453" y="442283"/>
                  </a:lnTo>
                  <a:lnTo>
                    <a:pt x="0" y="410337"/>
                  </a:lnTo>
                  <a:lnTo>
                    <a:pt x="0" y="82041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44"/>
          <p:cNvGrpSpPr/>
          <p:nvPr/>
        </p:nvGrpSpPr>
        <p:grpSpPr>
          <a:xfrm>
            <a:off x="1554709" y="2581289"/>
            <a:ext cx="6915150" cy="492760"/>
            <a:chOff x="1238859" y="2629789"/>
            <a:chExt cx="6915150" cy="492760"/>
          </a:xfrm>
        </p:grpSpPr>
        <p:sp>
          <p:nvSpPr>
            <p:cNvPr id="320" name="Google Shape;320;p44"/>
            <p:cNvSpPr/>
            <p:nvPr/>
          </p:nvSpPr>
          <p:spPr>
            <a:xfrm>
              <a:off x="1238859" y="2629789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6832498" y="0"/>
                  </a:moveTo>
                  <a:lnTo>
                    <a:pt x="82067" y="0"/>
                  </a:lnTo>
                  <a:lnTo>
                    <a:pt x="50116" y="6463"/>
                  </a:lnTo>
                  <a:lnTo>
                    <a:pt x="24031" y="24082"/>
                  </a:lnTo>
                  <a:lnTo>
                    <a:pt x="6447" y="50202"/>
                  </a:lnTo>
                  <a:lnTo>
                    <a:pt x="0" y="82169"/>
                  </a:lnTo>
                  <a:lnTo>
                    <a:pt x="0" y="410463"/>
                  </a:lnTo>
                  <a:lnTo>
                    <a:pt x="6447" y="442410"/>
                  </a:lnTo>
                  <a:lnTo>
                    <a:pt x="24031" y="468487"/>
                  </a:lnTo>
                  <a:lnTo>
                    <a:pt x="50116" y="486062"/>
                  </a:lnTo>
                  <a:lnTo>
                    <a:pt x="82067" y="492506"/>
                  </a:lnTo>
                  <a:lnTo>
                    <a:pt x="6832498" y="492506"/>
                  </a:lnTo>
                  <a:lnTo>
                    <a:pt x="6864444" y="486062"/>
                  </a:lnTo>
                  <a:lnTo>
                    <a:pt x="6890521" y="468487"/>
                  </a:lnTo>
                  <a:lnTo>
                    <a:pt x="6908097" y="442410"/>
                  </a:lnTo>
                  <a:lnTo>
                    <a:pt x="6914540" y="410463"/>
                  </a:lnTo>
                  <a:lnTo>
                    <a:pt x="6914540" y="82169"/>
                  </a:lnTo>
                  <a:lnTo>
                    <a:pt x="6908097" y="50202"/>
                  </a:lnTo>
                  <a:lnTo>
                    <a:pt x="6890521" y="24082"/>
                  </a:lnTo>
                  <a:lnTo>
                    <a:pt x="6864444" y="6463"/>
                  </a:lnTo>
                  <a:lnTo>
                    <a:pt x="6832498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1238859" y="2629789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0" y="82169"/>
                  </a:moveTo>
                  <a:lnTo>
                    <a:pt x="6447" y="50202"/>
                  </a:lnTo>
                  <a:lnTo>
                    <a:pt x="24031" y="24082"/>
                  </a:lnTo>
                  <a:lnTo>
                    <a:pt x="50116" y="6463"/>
                  </a:lnTo>
                  <a:lnTo>
                    <a:pt x="82067" y="0"/>
                  </a:lnTo>
                  <a:lnTo>
                    <a:pt x="6832498" y="0"/>
                  </a:lnTo>
                  <a:lnTo>
                    <a:pt x="6864444" y="6463"/>
                  </a:lnTo>
                  <a:lnTo>
                    <a:pt x="6890521" y="24082"/>
                  </a:lnTo>
                  <a:lnTo>
                    <a:pt x="6908097" y="50202"/>
                  </a:lnTo>
                  <a:lnTo>
                    <a:pt x="6914540" y="82169"/>
                  </a:lnTo>
                  <a:lnTo>
                    <a:pt x="6914540" y="410463"/>
                  </a:lnTo>
                  <a:lnTo>
                    <a:pt x="6908097" y="442410"/>
                  </a:lnTo>
                  <a:lnTo>
                    <a:pt x="6890521" y="468487"/>
                  </a:lnTo>
                  <a:lnTo>
                    <a:pt x="6864444" y="486062"/>
                  </a:lnTo>
                  <a:lnTo>
                    <a:pt x="6832498" y="492506"/>
                  </a:lnTo>
                  <a:lnTo>
                    <a:pt x="82067" y="492506"/>
                  </a:lnTo>
                  <a:lnTo>
                    <a:pt x="50116" y="486062"/>
                  </a:lnTo>
                  <a:lnTo>
                    <a:pt x="24031" y="468487"/>
                  </a:lnTo>
                  <a:lnTo>
                    <a:pt x="6447" y="442410"/>
                  </a:lnTo>
                  <a:lnTo>
                    <a:pt x="0" y="410463"/>
                  </a:lnTo>
                  <a:lnTo>
                    <a:pt x="0" y="82169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44"/>
          <p:cNvGrpSpPr/>
          <p:nvPr/>
        </p:nvGrpSpPr>
        <p:grpSpPr>
          <a:xfrm>
            <a:off x="1558409" y="3318504"/>
            <a:ext cx="6915150" cy="492760"/>
            <a:chOff x="1238859" y="3254629"/>
            <a:chExt cx="6915150" cy="492760"/>
          </a:xfrm>
        </p:grpSpPr>
        <p:sp>
          <p:nvSpPr>
            <p:cNvPr id="323" name="Google Shape;323;p44"/>
            <p:cNvSpPr/>
            <p:nvPr/>
          </p:nvSpPr>
          <p:spPr>
            <a:xfrm>
              <a:off x="1238859" y="3254629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6832498" y="0"/>
                  </a:moveTo>
                  <a:lnTo>
                    <a:pt x="82067" y="0"/>
                  </a:lnTo>
                  <a:lnTo>
                    <a:pt x="50116" y="6463"/>
                  </a:lnTo>
                  <a:lnTo>
                    <a:pt x="24031" y="24082"/>
                  </a:lnTo>
                  <a:lnTo>
                    <a:pt x="6447" y="50202"/>
                  </a:lnTo>
                  <a:lnTo>
                    <a:pt x="0" y="82169"/>
                  </a:lnTo>
                  <a:lnTo>
                    <a:pt x="0" y="410464"/>
                  </a:lnTo>
                  <a:lnTo>
                    <a:pt x="6447" y="442410"/>
                  </a:lnTo>
                  <a:lnTo>
                    <a:pt x="24031" y="468487"/>
                  </a:lnTo>
                  <a:lnTo>
                    <a:pt x="50116" y="486062"/>
                  </a:lnTo>
                  <a:lnTo>
                    <a:pt x="82067" y="492506"/>
                  </a:lnTo>
                  <a:lnTo>
                    <a:pt x="6832498" y="492506"/>
                  </a:lnTo>
                  <a:lnTo>
                    <a:pt x="6864444" y="486062"/>
                  </a:lnTo>
                  <a:lnTo>
                    <a:pt x="6890521" y="468487"/>
                  </a:lnTo>
                  <a:lnTo>
                    <a:pt x="6908097" y="442410"/>
                  </a:lnTo>
                  <a:lnTo>
                    <a:pt x="6914540" y="410464"/>
                  </a:lnTo>
                  <a:lnTo>
                    <a:pt x="6914540" y="82169"/>
                  </a:lnTo>
                  <a:lnTo>
                    <a:pt x="6908097" y="50202"/>
                  </a:lnTo>
                  <a:lnTo>
                    <a:pt x="6890521" y="24082"/>
                  </a:lnTo>
                  <a:lnTo>
                    <a:pt x="6864444" y="6463"/>
                  </a:lnTo>
                  <a:lnTo>
                    <a:pt x="6832498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1238859" y="3254629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0" y="82169"/>
                  </a:moveTo>
                  <a:lnTo>
                    <a:pt x="6447" y="50202"/>
                  </a:lnTo>
                  <a:lnTo>
                    <a:pt x="24031" y="24082"/>
                  </a:lnTo>
                  <a:lnTo>
                    <a:pt x="50116" y="6463"/>
                  </a:lnTo>
                  <a:lnTo>
                    <a:pt x="82067" y="0"/>
                  </a:lnTo>
                  <a:lnTo>
                    <a:pt x="6832498" y="0"/>
                  </a:lnTo>
                  <a:lnTo>
                    <a:pt x="6864444" y="6463"/>
                  </a:lnTo>
                  <a:lnTo>
                    <a:pt x="6890521" y="24082"/>
                  </a:lnTo>
                  <a:lnTo>
                    <a:pt x="6908097" y="50202"/>
                  </a:lnTo>
                  <a:lnTo>
                    <a:pt x="6914540" y="82169"/>
                  </a:lnTo>
                  <a:lnTo>
                    <a:pt x="6914540" y="410464"/>
                  </a:lnTo>
                  <a:lnTo>
                    <a:pt x="6908097" y="442410"/>
                  </a:lnTo>
                  <a:lnTo>
                    <a:pt x="6890521" y="468487"/>
                  </a:lnTo>
                  <a:lnTo>
                    <a:pt x="6864444" y="486062"/>
                  </a:lnTo>
                  <a:lnTo>
                    <a:pt x="6832498" y="492506"/>
                  </a:lnTo>
                  <a:lnTo>
                    <a:pt x="82067" y="492506"/>
                  </a:lnTo>
                  <a:lnTo>
                    <a:pt x="50116" y="486062"/>
                  </a:lnTo>
                  <a:lnTo>
                    <a:pt x="24031" y="468487"/>
                  </a:lnTo>
                  <a:lnTo>
                    <a:pt x="6447" y="442410"/>
                  </a:lnTo>
                  <a:lnTo>
                    <a:pt x="0" y="410464"/>
                  </a:lnTo>
                  <a:lnTo>
                    <a:pt x="0" y="82169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44"/>
          <p:cNvGrpSpPr/>
          <p:nvPr/>
        </p:nvGrpSpPr>
        <p:grpSpPr>
          <a:xfrm>
            <a:off x="1548112" y="4015054"/>
            <a:ext cx="6895846" cy="492760"/>
            <a:chOff x="1257300" y="3882390"/>
            <a:chExt cx="6914515" cy="492760"/>
          </a:xfrm>
        </p:grpSpPr>
        <p:sp>
          <p:nvSpPr>
            <p:cNvPr id="326" name="Google Shape;326;p44"/>
            <p:cNvSpPr/>
            <p:nvPr/>
          </p:nvSpPr>
          <p:spPr>
            <a:xfrm>
              <a:off x="1257300" y="3882390"/>
              <a:ext cx="6914515" cy="492760"/>
            </a:xfrm>
            <a:custGeom>
              <a:avLst/>
              <a:gdLst/>
              <a:ahLst/>
              <a:cxnLst/>
              <a:rect l="l" t="t" r="r" b="b"/>
              <a:pathLst>
                <a:path w="6914515" h="492760" extrusionOk="0">
                  <a:moveTo>
                    <a:pt x="6832473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337"/>
                  </a:lnTo>
                  <a:lnTo>
                    <a:pt x="6443" y="442303"/>
                  </a:lnTo>
                  <a:lnTo>
                    <a:pt x="24018" y="468423"/>
                  </a:lnTo>
                  <a:lnTo>
                    <a:pt x="50095" y="486042"/>
                  </a:lnTo>
                  <a:lnTo>
                    <a:pt x="82041" y="492506"/>
                  </a:lnTo>
                  <a:lnTo>
                    <a:pt x="6832473" y="492506"/>
                  </a:lnTo>
                  <a:lnTo>
                    <a:pt x="6864419" y="486042"/>
                  </a:lnTo>
                  <a:lnTo>
                    <a:pt x="6890496" y="468423"/>
                  </a:lnTo>
                  <a:lnTo>
                    <a:pt x="6908071" y="442303"/>
                  </a:lnTo>
                  <a:lnTo>
                    <a:pt x="6914515" y="410337"/>
                  </a:lnTo>
                  <a:lnTo>
                    <a:pt x="6914515" y="82042"/>
                  </a:lnTo>
                  <a:lnTo>
                    <a:pt x="6908071" y="50095"/>
                  </a:lnTo>
                  <a:lnTo>
                    <a:pt x="6890496" y="24018"/>
                  </a:lnTo>
                  <a:lnTo>
                    <a:pt x="6864419" y="6443"/>
                  </a:lnTo>
                  <a:lnTo>
                    <a:pt x="6832473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1257300" y="3882390"/>
              <a:ext cx="6914515" cy="492760"/>
            </a:xfrm>
            <a:custGeom>
              <a:avLst/>
              <a:gdLst/>
              <a:ahLst/>
              <a:cxnLst/>
              <a:rect l="l" t="t" r="r" b="b"/>
              <a:pathLst>
                <a:path w="6914515" h="492760" extrusionOk="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832473" y="0"/>
                  </a:lnTo>
                  <a:lnTo>
                    <a:pt x="6864419" y="6443"/>
                  </a:lnTo>
                  <a:lnTo>
                    <a:pt x="6890496" y="24018"/>
                  </a:lnTo>
                  <a:lnTo>
                    <a:pt x="6908071" y="50095"/>
                  </a:lnTo>
                  <a:lnTo>
                    <a:pt x="6914515" y="82042"/>
                  </a:lnTo>
                  <a:lnTo>
                    <a:pt x="6914515" y="410337"/>
                  </a:lnTo>
                  <a:lnTo>
                    <a:pt x="6908071" y="442303"/>
                  </a:lnTo>
                  <a:lnTo>
                    <a:pt x="6890496" y="468423"/>
                  </a:lnTo>
                  <a:lnTo>
                    <a:pt x="6864419" y="486042"/>
                  </a:lnTo>
                  <a:lnTo>
                    <a:pt x="6832473" y="492506"/>
                  </a:lnTo>
                  <a:lnTo>
                    <a:pt x="82041" y="492506"/>
                  </a:lnTo>
                  <a:lnTo>
                    <a:pt x="50095" y="486042"/>
                  </a:lnTo>
                  <a:lnTo>
                    <a:pt x="24018" y="468423"/>
                  </a:lnTo>
                  <a:lnTo>
                    <a:pt x="6443" y="442303"/>
                  </a:lnTo>
                  <a:lnTo>
                    <a:pt x="0" y="410337"/>
                  </a:lnTo>
                  <a:lnTo>
                    <a:pt x="0" y="8204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44"/>
          <p:cNvGrpSpPr/>
          <p:nvPr/>
        </p:nvGrpSpPr>
        <p:grpSpPr>
          <a:xfrm>
            <a:off x="1562075" y="4776663"/>
            <a:ext cx="6914515" cy="492760"/>
            <a:chOff x="1257300" y="4571238"/>
            <a:chExt cx="6914515" cy="492760"/>
          </a:xfrm>
        </p:grpSpPr>
        <p:sp>
          <p:nvSpPr>
            <p:cNvPr id="329" name="Google Shape;329;p44"/>
            <p:cNvSpPr/>
            <p:nvPr/>
          </p:nvSpPr>
          <p:spPr>
            <a:xfrm>
              <a:off x="1257300" y="4571238"/>
              <a:ext cx="6914515" cy="492760"/>
            </a:xfrm>
            <a:custGeom>
              <a:avLst/>
              <a:gdLst/>
              <a:ahLst/>
              <a:cxnLst/>
              <a:rect l="l" t="t" r="r" b="b"/>
              <a:pathLst>
                <a:path w="6914515" h="492760" extrusionOk="0">
                  <a:moveTo>
                    <a:pt x="6832473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337"/>
                  </a:lnTo>
                  <a:lnTo>
                    <a:pt x="6443" y="442283"/>
                  </a:lnTo>
                  <a:lnTo>
                    <a:pt x="24018" y="468360"/>
                  </a:lnTo>
                  <a:lnTo>
                    <a:pt x="50095" y="485935"/>
                  </a:lnTo>
                  <a:lnTo>
                    <a:pt x="82041" y="492379"/>
                  </a:lnTo>
                  <a:lnTo>
                    <a:pt x="6832473" y="492379"/>
                  </a:lnTo>
                  <a:lnTo>
                    <a:pt x="6864419" y="485935"/>
                  </a:lnTo>
                  <a:lnTo>
                    <a:pt x="6890496" y="468360"/>
                  </a:lnTo>
                  <a:lnTo>
                    <a:pt x="6908071" y="442283"/>
                  </a:lnTo>
                  <a:lnTo>
                    <a:pt x="6914515" y="410337"/>
                  </a:lnTo>
                  <a:lnTo>
                    <a:pt x="6914515" y="82042"/>
                  </a:lnTo>
                  <a:lnTo>
                    <a:pt x="6908071" y="50095"/>
                  </a:lnTo>
                  <a:lnTo>
                    <a:pt x="6890496" y="24018"/>
                  </a:lnTo>
                  <a:lnTo>
                    <a:pt x="6864419" y="6443"/>
                  </a:lnTo>
                  <a:lnTo>
                    <a:pt x="6832473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1257300" y="4571238"/>
              <a:ext cx="6914515" cy="492760"/>
            </a:xfrm>
            <a:custGeom>
              <a:avLst/>
              <a:gdLst/>
              <a:ahLst/>
              <a:cxnLst/>
              <a:rect l="l" t="t" r="r" b="b"/>
              <a:pathLst>
                <a:path w="6914515" h="492760" extrusionOk="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832473" y="0"/>
                  </a:lnTo>
                  <a:lnTo>
                    <a:pt x="6864419" y="6443"/>
                  </a:lnTo>
                  <a:lnTo>
                    <a:pt x="6890496" y="24018"/>
                  </a:lnTo>
                  <a:lnTo>
                    <a:pt x="6908071" y="50095"/>
                  </a:lnTo>
                  <a:lnTo>
                    <a:pt x="6914515" y="82042"/>
                  </a:lnTo>
                  <a:lnTo>
                    <a:pt x="6914515" y="410337"/>
                  </a:lnTo>
                  <a:lnTo>
                    <a:pt x="6908071" y="442283"/>
                  </a:lnTo>
                  <a:lnTo>
                    <a:pt x="6890496" y="468360"/>
                  </a:lnTo>
                  <a:lnTo>
                    <a:pt x="6864419" y="485935"/>
                  </a:lnTo>
                  <a:lnTo>
                    <a:pt x="6832473" y="492379"/>
                  </a:lnTo>
                  <a:lnTo>
                    <a:pt x="82041" y="492379"/>
                  </a:lnTo>
                  <a:lnTo>
                    <a:pt x="50095" y="485935"/>
                  </a:lnTo>
                  <a:lnTo>
                    <a:pt x="24018" y="468360"/>
                  </a:lnTo>
                  <a:lnTo>
                    <a:pt x="6443" y="442283"/>
                  </a:lnTo>
                  <a:lnTo>
                    <a:pt x="0" y="410337"/>
                  </a:lnTo>
                  <a:lnTo>
                    <a:pt x="0" y="8204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44"/>
          <p:cNvGrpSpPr/>
          <p:nvPr/>
        </p:nvGrpSpPr>
        <p:grpSpPr>
          <a:xfrm>
            <a:off x="1558409" y="5532609"/>
            <a:ext cx="6915150" cy="492760"/>
            <a:chOff x="1238859" y="5218684"/>
            <a:chExt cx="6915150" cy="492760"/>
          </a:xfrm>
        </p:grpSpPr>
        <p:sp>
          <p:nvSpPr>
            <p:cNvPr id="332" name="Google Shape;332;p44"/>
            <p:cNvSpPr/>
            <p:nvPr/>
          </p:nvSpPr>
          <p:spPr>
            <a:xfrm>
              <a:off x="1238859" y="5218684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6832498" y="0"/>
                  </a:moveTo>
                  <a:lnTo>
                    <a:pt x="82067" y="0"/>
                  </a:lnTo>
                  <a:lnTo>
                    <a:pt x="50116" y="6463"/>
                  </a:lnTo>
                  <a:lnTo>
                    <a:pt x="24031" y="24082"/>
                  </a:lnTo>
                  <a:lnTo>
                    <a:pt x="6447" y="50202"/>
                  </a:lnTo>
                  <a:lnTo>
                    <a:pt x="0" y="82169"/>
                  </a:lnTo>
                  <a:lnTo>
                    <a:pt x="0" y="410400"/>
                  </a:lnTo>
                  <a:lnTo>
                    <a:pt x="6447" y="442347"/>
                  </a:lnTo>
                  <a:lnTo>
                    <a:pt x="24031" y="468437"/>
                  </a:lnTo>
                  <a:lnTo>
                    <a:pt x="50116" y="486029"/>
                  </a:lnTo>
                  <a:lnTo>
                    <a:pt x="82067" y="492480"/>
                  </a:lnTo>
                  <a:lnTo>
                    <a:pt x="6832498" y="492480"/>
                  </a:lnTo>
                  <a:lnTo>
                    <a:pt x="6864444" y="486029"/>
                  </a:lnTo>
                  <a:lnTo>
                    <a:pt x="6890521" y="468437"/>
                  </a:lnTo>
                  <a:lnTo>
                    <a:pt x="6908097" y="442347"/>
                  </a:lnTo>
                  <a:lnTo>
                    <a:pt x="6914540" y="410400"/>
                  </a:lnTo>
                  <a:lnTo>
                    <a:pt x="6914540" y="82169"/>
                  </a:lnTo>
                  <a:lnTo>
                    <a:pt x="6908097" y="50202"/>
                  </a:lnTo>
                  <a:lnTo>
                    <a:pt x="6890521" y="24082"/>
                  </a:lnTo>
                  <a:lnTo>
                    <a:pt x="6864444" y="6463"/>
                  </a:lnTo>
                  <a:lnTo>
                    <a:pt x="6832498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1238859" y="5218684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0" y="82169"/>
                  </a:moveTo>
                  <a:lnTo>
                    <a:pt x="6447" y="50202"/>
                  </a:lnTo>
                  <a:lnTo>
                    <a:pt x="24031" y="24082"/>
                  </a:lnTo>
                  <a:lnTo>
                    <a:pt x="50116" y="6463"/>
                  </a:lnTo>
                  <a:lnTo>
                    <a:pt x="82067" y="0"/>
                  </a:lnTo>
                  <a:lnTo>
                    <a:pt x="6832498" y="0"/>
                  </a:lnTo>
                  <a:lnTo>
                    <a:pt x="6864444" y="6463"/>
                  </a:lnTo>
                  <a:lnTo>
                    <a:pt x="6890521" y="24082"/>
                  </a:lnTo>
                  <a:lnTo>
                    <a:pt x="6908097" y="50202"/>
                  </a:lnTo>
                  <a:lnTo>
                    <a:pt x="6914540" y="82169"/>
                  </a:lnTo>
                  <a:lnTo>
                    <a:pt x="6914540" y="410400"/>
                  </a:lnTo>
                  <a:lnTo>
                    <a:pt x="6908097" y="442347"/>
                  </a:lnTo>
                  <a:lnTo>
                    <a:pt x="6890521" y="468437"/>
                  </a:lnTo>
                  <a:lnTo>
                    <a:pt x="6864444" y="486029"/>
                  </a:lnTo>
                  <a:lnTo>
                    <a:pt x="6832498" y="492480"/>
                  </a:lnTo>
                  <a:lnTo>
                    <a:pt x="82067" y="492480"/>
                  </a:lnTo>
                  <a:lnTo>
                    <a:pt x="50116" y="486029"/>
                  </a:lnTo>
                  <a:lnTo>
                    <a:pt x="24031" y="468437"/>
                  </a:lnTo>
                  <a:lnTo>
                    <a:pt x="6447" y="442347"/>
                  </a:lnTo>
                  <a:lnTo>
                    <a:pt x="0" y="410400"/>
                  </a:lnTo>
                  <a:lnTo>
                    <a:pt x="0" y="82169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44"/>
          <p:cNvSpPr txBox="1"/>
          <p:nvPr/>
        </p:nvSpPr>
        <p:spPr>
          <a:xfrm>
            <a:off x="1705475" y="1128850"/>
            <a:ext cx="35310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4"/>
          <p:cNvSpPr txBox="1"/>
          <p:nvPr/>
        </p:nvSpPr>
        <p:spPr>
          <a:xfrm>
            <a:off x="1687025" y="1855875"/>
            <a:ext cx="35310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44"/>
          <p:cNvSpPr txBox="1"/>
          <p:nvPr/>
        </p:nvSpPr>
        <p:spPr>
          <a:xfrm>
            <a:off x="1701775" y="2523450"/>
            <a:ext cx="63744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1705475" y="3245425"/>
            <a:ext cx="35310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4"/>
          <p:cNvSpPr txBox="1"/>
          <p:nvPr/>
        </p:nvSpPr>
        <p:spPr>
          <a:xfrm>
            <a:off x="1725125" y="3994125"/>
            <a:ext cx="35310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4"/>
          <p:cNvSpPr txBox="1"/>
          <p:nvPr/>
        </p:nvSpPr>
        <p:spPr>
          <a:xfrm>
            <a:off x="1690700" y="4682375"/>
            <a:ext cx="35310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Result/Discussion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4"/>
          <p:cNvSpPr txBox="1"/>
          <p:nvPr/>
        </p:nvSpPr>
        <p:spPr>
          <a:xfrm>
            <a:off x="1705475" y="5476675"/>
            <a:ext cx="63744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Scope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1" name="Google Shape;341;p44"/>
          <p:cNvGrpSpPr/>
          <p:nvPr/>
        </p:nvGrpSpPr>
        <p:grpSpPr>
          <a:xfrm>
            <a:off x="796409" y="1071500"/>
            <a:ext cx="533400" cy="492760"/>
            <a:chOff x="476859" y="1371600"/>
            <a:chExt cx="533400" cy="492760"/>
          </a:xfrm>
        </p:grpSpPr>
        <p:sp>
          <p:nvSpPr>
            <p:cNvPr id="342" name="Google Shape;342;p44"/>
            <p:cNvSpPr/>
            <p:nvPr/>
          </p:nvSpPr>
          <p:spPr>
            <a:xfrm>
              <a:off x="476859" y="1371600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2"/>
                  </a:lnTo>
                  <a:lnTo>
                    <a:pt x="4296" y="290483"/>
                  </a:lnTo>
                  <a:lnTo>
                    <a:pt x="16685" y="332117"/>
                  </a:lnTo>
                  <a:lnTo>
                    <a:pt x="36412" y="370458"/>
                  </a:lnTo>
                  <a:lnTo>
                    <a:pt x="62724" y="404811"/>
                  </a:lnTo>
                  <a:lnTo>
                    <a:pt x="94868" y="434479"/>
                  </a:lnTo>
                  <a:lnTo>
                    <a:pt x="132091" y="458766"/>
                  </a:lnTo>
                  <a:lnTo>
                    <a:pt x="173639" y="476975"/>
                  </a:lnTo>
                  <a:lnTo>
                    <a:pt x="218760" y="488412"/>
                  </a:lnTo>
                  <a:lnTo>
                    <a:pt x="266700" y="492378"/>
                  </a:lnTo>
                  <a:lnTo>
                    <a:pt x="314639" y="488412"/>
                  </a:lnTo>
                  <a:lnTo>
                    <a:pt x="359760" y="476975"/>
                  </a:lnTo>
                  <a:lnTo>
                    <a:pt x="401308" y="458766"/>
                  </a:lnTo>
                  <a:lnTo>
                    <a:pt x="438531" y="434479"/>
                  </a:lnTo>
                  <a:lnTo>
                    <a:pt x="470675" y="404811"/>
                  </a:lnTo>
                  <a:lnTo>
                    <a:pt x="496987" y="370458"/>
                  </a:lnTo>
                  <a:lnTo>
                    <a:pt x="516714" y="332117"/>
                  </a:lnTo>
                  <a:lnTo>
                    <a:pt x="529103" y="290483"/>
                  </a:lnTo>
                  <a:lnTo>
                    <a:pt x="533400" y="246252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476859" y="1371600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2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400" y="246252"/>
                  </a:lnTo>
                  <a:lnTo>
                    <a:pt x="529103" y="290483"/>
                  </a:lnTo>
                  <a:lnTo>
                    <a:pt x="516714" y="332117"/>
                  </a:lnTo>
                  <a:lnTo>
                    <a:pt x="496987" y="370458"/>
                  </a:lnTo>
                  <a:lnTo>
                    <a:pt x="470675" y="404811"/>
                  </a:lnTo>
                  <a:lnTo>
                    <a:pt x="438531" y="434479"/>
                  </a:lnTo>
                  <a:lnTo>
                    <a:pt x="401308" y="458766"/>
                  </a:lnTo>
                  <a:lnTo>
                    <a:pt x="359760" y="476975"/>
                  </a:lnTo>
                  <a:lnTo>
                    <a:pt x="314639" y="488412"/>
                  </a:lnTo>
                  <a:lnTo>
                    <a:pt x="266700" y="492378"/>
                  </a:lnTo>
                  <a:lnTo>
                    <a:pt x="218760" y="488412"/>
                  </a:lnTo>
                  <a:lnTo>
                    <a:pt x="173639" y="476975"/>
                  </a:lnTo>
                  <a:lnTo>
                    <a:pt x="132091" y="458766"/>
                  </a:lnTo>
                  <a:lnTo>
                    <a:pt x="94868" y="434479"/>
                  </a:lnTo>
                  <a:lnTo>
                    <a:pt x="62724" y="404811"/>
                  </a:lnTo>
                  <a:lnTo>
                    <a:pt x="36412" y="370458"/>
                  </a:lnTo>
                  <a:lnTo>
                    <a:pt x="16685" y="332117"/>
                  </a:lnTo>
                  <a:lnTo>
                    <a:pt x="4296" y="290483"/>
                  </a:lnTo>
                  <a:lnTo>
                    <a:pt x="0" y="24625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44"/>
          <p:cNvGrpSpPr/>
          <p:nvPr/>
        </p:nvGrpSpPr>
        <p:grpSpPr>
          <a:xfrm>
            <a:off x="796400" y="1793317"/>
            <a:ext cx="530225" cy="492760"/>
            <a:chOff x="495300" y="2052192"/>
            <a:chExt cx="530225" cy="492760"/>
          </a:xfrm>
        </p:grpSpPr>
        <p:sp>
          <p:nvSpPr>
            <p:cNvPr id="345" name="Google Shape;345;p44"/>
            <p:cNvSpPr/>
            <p:nvPr/>
          </p:nvSpPr>
          <p:spPr>
            <a:xfrm>
              <a:off x="495300" y="2052192"/>
              <a:ext cx="530225" cy="492760"/>
            </a:xfrm>
            <a:custGeom>
              <a:avLst/>
              <a:gdLst/>
              <a:ahLst/>
              <a:cxnLst/>
              <a:rect l="l" t="t" r="r" b="b"/>
              <a:pathLst>
                <a:path w="530225" h="492760" extrusionOk="0">
                  <a:moveTo>
                    <a:pt x="264858" y="0"/>
                  </a:moveTo>
                  <a:lnTo>
                    <a:pt x="217249" y="3966"/>
                  </a:lnTo>
                  <a:lnTo>
                    <a:pt x="172440" y="15403"/>
                  </a:lnTo>
                  <a:lnTo>
                    <a:pt x="131178" y="33612"/>
                  </a:lnTo>
                  <a:lnTo>
                    <a:pt x="94213" y="57899"/>
                  </a:lnTo>
                  <a:lnTo>
                    <a:pt x="62290" y="87567"/>
                  </a:lnTo>
                  <a:lnTo>
                    <a:pt x="36160" y="121920"/>
                  </a:lnTo>
                  <a:lnTo>
                    <a:pt x="16570" y="160261"/>
                  </a:lnTo>
                  <a:lnTo>
                    <a:pt x="4267" y="201895"/>
                  </a:lnTo>
                  <a:lnTo>
                    <a:pt x="0" y="246126"/>
                  </a:lnTo>
                  <a:lnTo>
                    <a:pt x="4267" y="290394"/>
                  </a:lnTo>
                  <a:lnTo>
                    <a:pt x="16570" y="332057"/>
                  </a:lnTo>
                  <a:lnTo>
                    <a:pt x="36160" y="370421"/>
                  </a:lnTo>
                  <a:lnTo>
                    <a:pt x="62290" y="404789"/>
                  </a:lnTo>
                  <a:lnTo>
                    <a:pt x="94213" y="434468"/>
                  </a:lnTo>
                  <a:lnTo>
                    <a:pt x="131178" y="458761"/>
                  </a:lnTo>
                  <a:lnTo>
                    <a:pt x="172440" y="476974"/>
                  </a:lnTo>
                  <a:lnTo>
                    <a:pt x="217249" y="488412"/>
                  </a:lnTo>
                  <a:lnTo>
                    <a:pt x="264858" y="492379"/>
                  </a:lnTo>
                  <a:lnTo>
                    <a:pt x="312467" y="488412"/>
                  </a:lnTo>
                  <a:lnTo>
                    <a:pt x="357276" y="476974"/>
                  </a:lnTo>
                  <a:lnTo>
                    <a:pt x="398538" y="458761"/>
                  </a:lnTo>
                  <a:lnTo>
                    <a:pt x="435503" y="434468"/>
                  </a:lnTo>
                  <a:lnTo>
                    <a:pt x="467426" y="404789"/>
                  </a:lnTo>
                  <a:lnTo>
                    <a:pt x="493556" y="370421"/>
                  </a:lnTo>
                  <a:lnTo>
                    <a:pt x="513146" y="332057"/>
                  </a:lnTo>
                  <a:lnTo>
                    <a:pt x="525449" y="290394"/>
                  </a:lnTo>
                  <a:lnTo>
                    <a:pt x="529716" y="246126"/>
                  </a:lnTo>
                  <a:lnTo>
                    <a:pt x="525449" y="201895"/>
                  </a:lnTo>
                  <a:lnTo>
                    <a:pt x="513146" y="160261"/>
                  </a:lnTo>
                  <a:lnTo>
                    <a:pt x="493556" y="121920"/>
                  </a:lnTo>
                  <a:lnTo>
                    <a:pt x="467426" y="87567"/>
                  </a:lnTo>
                  <a:lnTo>
                    <a:pt x="435503" y="57899"/>
                  </a:lnTo>
                  <a:lnTo>
                    <a:pt x="398538" y="33612"/>
                  </a:lnTo>
                  <a:lnTo>
                    <a:pt x="357276" y="15403"/>
                  </a:lnTo>
                  <a:lnTo>
                    <a:pt x="312467" y="3966"/>
                  </a:lnTo>
                  <a:lnTo>
                    <a:pt x="264858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495300" y="2052192"/>
              <a:ext cx="530225" cy="492760"/>
            </a:xfrm>
            <a:custGeom>
              <a:avLst/>
              <a:gdLst/>
              <a:ahLst/>
              <a:cxnLst/>
              <a:rect l="l" t="t" r="r" b="b"/>
              <a:pathLst>
                <a:path w="530225" h="492760" extrusionOk="0">
                  <a:moveTo>
                    <a:pt x="0" y="246126"/>
                  </a:moveTo>
                  <a:lnTo>
                    <a:pt x="4267" y="201895"/>
                  </a:lnTo>
                  <a:lnTo>
                    <a:pt x="16570" y="160261"/>
                  </a:lnTo>
                  <a:lnTo>
                    <a:pt x="36160" y="121920"/>
                  </a:lnTo>
                  <a:lnTo>
                    <a:pt x="62290" y="87567"/>
                  </a:lnTo>
                  <a:lnTo>
                    <a:pt x="94213" y="57899"/>
                  </a:lnTo>
                  <a:lnTo>
                    <a:pt x="131178" y="33612"/>
                  </a:lnTo>
                  <a:lnTo>
                    <a:pt x="172440" y="15403"/>
                  </a:lnTo>
                  <a:lnTo>
                    <a:pt x="217249" y="3966"/>
                  </a:lnTo>
                  <a:lnTo>
                    <a:pt x="264858" y="0"/>
                  </a:lnTo>
                  <a:lnTo>
                    <a:pt x="312467" y="3966"/>
                  </a:lnTo>
                  <a:lnTo>
                    <a:pt x="357276" y="15403"/>
                  </a:lnTo>
                  <a:lnTo>
                    <a:pt x="398538" y="33612"/>
                  </a:lnTo>
                  <a:lnTo>
                    <a:pt x="435503" y="57899"/>
                  </a:lnTo>
                  <a:lnTo>
                    <a:pt x="467426" y="87567"/>
                  </a:lnTo>
                  <a:lnTo>
                    <a:pt x="493556" y="121920"/>
                  </a:lnTo>
                  <a:lnTo>
                    <a:pt x="513146" y="160261"/>
                  </a:lnTo>
                  <a:lnTo>
                    <a:pt x="525449" y="201895"/>
                  </a:lnTo>
                  <a:lnTo>
                    <a:pt x="529716" y="246126"/>
                  </a:lnTo>
                  <a:lnTo>
                    <a:pt x="525449" y="290394"/>
                  </a:lnTo>
                  <a:lnTo>
                    <a:pt x="513146" y="332057"/>
                  </a:lnTo>
                  <a:lnTo>
                    <a:pt x="493556" y="370421"/>
                  </a:lnTo>
                  <a:lnTo>
                    <a:pt x="467426" y="404789"/>
                  </a:lnTo>
                  <a:lnTo>
                    <a:pt x="435503" y="434468"/>
                  </a:lnTo>
                  <a:lnTo>
                    <a:pt x="398538" y="458761"/>
                  </a:lnTo>
                  <a:lnTo>
                    <a:pt x="357276" y="476974"/>
                  </a:lnTo>
                  <a:lnTo>
                    <a:pt x="312467" y="488412"/>
                  </a:lnTo>
                  <a:lnTo>
                    <a:pt x="264858" y="492379"/>
                  </a:lnTo>
                  <a:lnTo>
                    <a:pt x="217249" y="488412"/>
                  </a:lnTo>
                  <a:lnTo>
                    <a:pt x="172440" y="476974"/>
                  </a:lnTo>
                  <a:lnTo>
                    <a:pt x="131178" y="458761"/>
                  </a:lnTo>
                  <a:lnTo>
                    <a:pt x="94213" y="434468"/>
                  </a:lnTo>
                  <a:lnTo>
                    <a:pt x="62290" y="404789"/>
                  </a:lnTo>
                  <a:lnTo>
                    <a:pt x="36160" y="370421"/>
                  </a:lnTo>
                  <a:lnTo>
                    <a:pt x="16570" y="332057"/>
                  </a:lnTo>
                  <a:lnTo>
                    <a:pt x="4267" y="290394"/>
                  </a:lnTo>
                  <a:lnTo>
                    <a:pt x="0" y="246126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44"/>
          <p:cNvGrpSpPr/>
          <p:nvPr/>
        </p:nvGrpSpPr>
        <p:grpSpPr>
          <a:xfrm>
            <a:off x="796409" y="3293358"/>
            <a:ext cx="533400" cy="492760"/>
            <a:chOff x="476859" y="3305683"/>
            <a:chExt cx="533400" cy="492760"/>
          </a:xfrm>
        </p:grpSpPr>
        <p:sp>
          <p:nvSpPr>
            <p:cNvPr id="348" name="Google Shape;348;p44"/>
            <p:cNvSpPr/>
            <p:nvPr/>
          </p:nvSpPr>
          <p:spPr>
            <a:xfrm>
              <a:off x="476859" y="3305683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3"/>
                  </a:lnTo>
                  <a:lnTo>
                    <a:pt x="132091" y="33612"/>
                  </a:lnTo>
                  <a:lnTo>
                    <a:pt x="94868" y="57899"/>
                  </a:lnTo>
                  <a:lnTo>
                    <a:pt x="62724" y="87567"/>
                  </a:lnTo>
                  <a:lnTo>
                    <a:pt x="36412" y="121920"/>
                  </a:lnTo>
                  <a:lnTo>
                    <a:pt x="16685" y="160261"/>
                  </a:lnTo>
                  <a:lnTo>
                    <a:pt x="4296" y="201895"/>
                  </a:lnTo>
                  <a:lnTo>
                    <a:pt x="0" y="246125"/>
                  </a:lnTo>
                  <a:lnTo>
                    <a:pt x="4296" y="290394"/>
                  </a:lnTo>
                  <a:lnTo>
                    <a:pt x="16685" y="332057"/>
                  </a:lnTo>
                  <a:lnTo>
                    <a:pt x="36412" y="370421"/>
                  </a:lnTo>
                  <a:lnTo>
                    <a:pt x="62724" y="404789"/>
                  </a:lnTo>
                  <a:lnTo>
                    <a:pt x="94868" y="434468"/>
                  </a:lnTo>
                  <a:lnTo>
                    <a:pt x="132091" y="458761"/>
                  </a:lnTo>
                  <a:lnTo>
                    <a:pt x="173639" y="476974"/>
                  </a:lnTo>
                  <a:lnTo>
                    <a:pt x="218760" y="488412"/>
                  </a:lnTo>
                  <a:lnTo>
                    <a:pt x="266700" y="492378"/>
                  </a:lnTo>
                  <a:lnTo>
                    <a:pt x="314639" y="488412"/>
                  </a:lnTo>
                  <a:lnTo>
                    <a:pt x="359760" y="476974"/>
                  </a:lnTo>
                  <a:lnTo>
                    <a:pt x="401308" y="458761"/>
                  </a:lnTo>
                  <a:lnTo>
                    <a:pt x="438531" y="434468"/>
                  </a:lnTo>
                  <a:lnTo>
                    <a:pt x="470675" y="404789"/>
                  </a:lnTo>
                  <a:lnTo>
                    <a:pt x="496987" y="370421"/>
                  </a:lnTo>
                  <a:lnTo>
                    <a:pt x="516714" y="332057"/>
                  </a:lnTo>
                  <a:lnTo>
                    <a:pt x="529103" y="290394"/>
                  </a:lnTo>
                  <a:lnTo>
                    <a:pt x="533400" y="246125"/>
                  </a:lnTo>
                  <a:lnTo>
                    <a:pt x="529103" y="201895"/>
                  </a:lnTo>
                  <a:lnTo>
                    <a:pt x="516714" y="160261"/>
                  </a:lnTo>
                  <a:lnTo>
                    <a:pt x="496987" y="121920"/>
                  </a:lnTo>
                  <a:lnTo>
                    <a:pt x="470675" y="87567"/>
                  </a:lnTo>
                  <a:lnTo>
                    <a:pt x="438531" y="57899"/>
                  </a:lnTo>
                  <a:lnTo>
                    <a:pt x="401308" y="33612"/>
                  </a:lnTo>
                  <a:lnTo>
                    <a:pt x="359760" y="15403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476859" y="3305683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125"/>
                  </a:moveTo>
                  <a:lnTo>
                    <a:pt x="4296" y="201895"/>
                  </a:lnTo>
                  <a:lnTo>
                    <a:pt x="16685" y="160261"/>
                  </a:lnTo>
                  <a:lnTo>
                    <a:pt x="36412" y="121920"/>
                  </a:lnTo>
                  <a:lnTo>
                    <a:pt x="62724" y="87567"/>
                  </a:lnTo>
                  <a:lnTo>
                    <a:pt x="94868" y="57899"/>
                  </a:lnTo>
                  <a:lnTo>
                    <a:pt x="132091" y="33612"/>
                  </a:lnTo>
                  <a:lnTo>
                    <a:pt x="173639" y="15403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3"/>
                  </a:lnTo>
                  <a:lnTo>
                    <a:pt x="401308" y="33612"/>
                  </a:lnTo>
                  <a:lnTo>
                    <a:pt x="438531" y="57899"/>
                  </a:lnTo>
                  <a:lnTo>
                    <a:pt x="470675" y="87567"/>
                  </a:lnTo>
                  <a:lnTo>
                    <a:pt x="496987" y="121920"/>
                  </a:lnTo>
                  <a:lnTo>
                    <a:pt x="516714" y="160261"/>
                  </a:lnTo>
                  <a:lnTo>
                    <a:pt x="529103" y="201895"/>
                  </a:lnTo>
                  <a:lnTo>
                    <a:pt x="533400" y="246125"/>
                  </a:lnTo>
                  <a:lnTo>
                    <a:pt x="529103" y="290394"/>
                  </a:lnTo>
                  <a:lnTo>
                    <a:pt x="516714" y="332057"/>
                  </a:lnTo>
                  <a:lnTo>
                    <a:pt x="496987" y="370421"/>
                  </a:lnTo>
                  <a:lnTo>
                    <a:pt x="470675" y="404789"/>
                  </a:lnTo>
                  <a:lnTo>
                    <a:pt x="438531" y="434468"/>
                  </a:lnTo>
                  <a:lnTo>
                    <a:pt x="401308" y="458761"/>
                  </a:lnTo>
                  <a:lnTo>
                    <a:pt x="359760" y="476974"/>
                  </a:lnTo>
                  <a:lnTo>
                    <a:pt x="314639" y="488412"/>
                  </a:lnTo>
                  <a:lnTo>
                    <a:pt x="266700" y="492378"/>
                  </a:lnTo>
                  <a:lnTo>
                    <a:pt x="218760" y="488412"/>
                  </a:lnTo>
                  <a:lnTo>
                    <a:pt x="173639" y="476974"/>
                  </a:lnTo>
                  <a:lnTo>
                    <a:pt x="132091" y="458761"/>
                  </a:lnTo>
                  <a:lnTo>
                    <a:pt x="94868" y="434468"/>
                  </a:lnTo>
                  <a:lnTo>
                    <a:pt x="62724" y="404789"/>
                  </a:lnTo>
                  <a:lnTo>
                    <a:pt x="36412" y="370421"/>
                  </a:lnTo>
                  <a:lnTo>
                    <a:pt x="16685" y="332057"/>
                  </a:lnTo>
                  <a:lnTo>
                    <a:pt x="4296" y="290394"/>
                  </a:lnTo>
                  <a:lnTo>
                    <a:pt x="0" y="246125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44"/>
          <p:cNvGrpSpPr/>
          <p:nvPr/>
        </p:nvGrpSpPr>
        <p:grpSpPr>
          <a:xfrm>
            <a:off x="796405" y="2560207"/>
            <a:ext cx="533400" cy="492760"/>
            <a:chOff x="480555" y="2684907"/>
            <a:chExt cx="533400" cy="492760"/>
          </a:xfrm>
        </p:grpSpPr>
        <p:sp>
          <p:nvSpPr>
            <p:cNvPr id="351" name="Google Shape;351;p44"/>
            <p:cNvSpPr/>
            <p:nvPr/>
          </p:nvSpPr>
          <p:spPr>
            <a:xfrm>
              <a:off x="480555" y="2684907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2"/>
                  </a:lnTo>
                  <a:lnTo>
                    <a:pt x="4296" y="290521"/>
                  </a:lnTo>
                  <a:lnTo>
                    <a:pt x="16685" y="332184"/>
                  </a:lnTo>
                  <a:lnTo>
                    <a:pt x="36412" y="370548"/>
                  </a:lnTo>
                  <a:lnTo>
                    <a:pt x="62724" y="404916"/>
                  </a:lnTo>
                  <a:lnTo>
                    <a:pt x="94868" y="434595"/>
                  </a:lnTo>
                  <a:lnTo>
                    <a:pt x="132091" y="458888"/>
                  </a:lnTo>
                  <a:lnTo>
                    <a:pt x="173639" y="477101"/>
                  </a:lnTo>
                  <a:lnTo>
                    <a:pt x="218760" y="488539"/>
                  </a:lnTo>
                  <a:lnTo>
                    <a:pt x="266700" y="492505"/>
                  </a:lnTo>
                  <a:lnTo>
                    <a:pt x="314639" y="488539"/>
                  </a:lnTo>
                  <a:lnTo>
                    <a:pt x="359760" y="477101"/>
                  </a:lnTo>
                  <a:lnTo>
                    <a:pt x="401308" y="458888"/>
                  </a:lnTo>
                  <a:lnTo>
                    <a:pt x="438531" y="434595"/>
                  </a:lnTo>
                  <a:lnTo>
                    <a:pt x="470675" y="404916"/>
                  </a:lnTo>
                  <a:lnTo>
                    <a:pt x="496987" y="370548"/>
                  </a:lnTo>
                  <a:lnTo>
                    <a:pt x="516714" y="332184"/>
                  </a:lnTo>
                  <a:lnTo>
                    <a:pt x="529103" y="290521"/>
                  </a:lnTo>
                  <a:lnTo>
                    <a:pt x="533400" y="246252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480555" y="2684907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2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400" y="246252"/>
                  </a:lnTo>
                  <a:lnTo>
                    <a:pt x="529103" y="290521"/>
                  </a:lnTo>
                  <a:lnTo>
                    <a:pt x="516714" y="332184"/>
                  </a:lnTo>
                  <a:lnTo>
                    <a:pt x="496987" y="370548"/>
                  </a:lnTo>
                  <a:lnTo>
                    <a:pt x="470675" y="404916"/>
                  </a:lnTo>
                  <a:lnTo>
                    <a:pt x="438531" y="434595"/>
                  </a:lnTo>
                  <a:lnTo>
                    <a:pt x="401308" y="458888"/>
                  </a:lnTo>
                  <a:lnTo>
                    <a:pt x="359760" y="477101"/>
                  </a:lnTo>
                  <a:lnTo>
                    <a:pt x="314639" y="488539"/>
                  </a:lnTo>
                  <a:lnTo>
                    <a:pt x="266700" y="492505"/>
                  </a:lnTo>
                  <a:lnTo>
                    <a:pt x="218760" y="488539"/>
                  </a:lnTo>
                  <a:lnTo>
                    <a:pt x="173639" y="477101"/>
                  </a:lnTo>
                  <a:lnTo>
                    <a:pt x="132091" y="458888"/>
                  </a:lnTo>
                  <a:lnTo>
                    <a:pt x="94868" y="434595"/>
                  </a:lnTo>
                  <a:lnTo>
                    <a:pt x="62724" y="404916"/>
                  </a:lnTo>
                  <a:lnTo>
                    <a:pt x="36412" y="370548"/>
                  </a:lnTo>
                  <a:lnTo>
                    <a:pt x="16685" y="332184"/>
                  </a:lnTo>
                  <a:lnTo>
                    <a:pt x="4296" y="290521"/>
                  </a:lnTo>
                  <a:lnTo>
                    <a:pt x="0" y="246252"/>
                  </a:lnTo>
                  <a:close/>
                </a:path>
              </a:pathLst>
            </a:custGeom>
            <a:noFill/>
            <a:ln w="25375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44"/>
          <p:cNvGrpSpPr/>
          <p:nvPr/>
        </p:nvGrpSpPr>
        <p:grpSpPr>
          <a:xfrm>
            <a:off x="796400" y="4001036"/>
            <a:ext cx="533400" cy="492760"/>
            <a:chOff x="457200" y="3950461"/>
            <a:chExt cx="533400" cy="492760"/>
          </a:xfrm>
        </p:grpSpPr>
        <p:sp>
          <p:nvSpPr>
            <p:cNvPr id="354" name="Google Shape;354;p44"/>
            <p:cNvSpPr/>
            <p:nvPr/>
          </p:nvSpPr>
          <p:spPr>
            <a:xfrm>
              <a:off x="457200" y="3950461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2"/>
                  </a:lnTo>
                  <a:lnTo>
                    <a:pt x="4296" y="290521"/>
                  </a:lnTo>
                  <a:lnTo>
                    <a:pt x="16685" y="332184"/>
                  </a:lnTo>
                  <a:lnTo>
                    <a:pt x="36412" y="370548"/>
                  </a:lnTo>
                  <a:lnTo>
                    <a:pt x="62724" y="404916"/>
                  </a:lnTo>
                  <a:lnTo>
                    <a:pt x="94868" y="434595"/>
                  </a:lnTo>
                  <a:lnTo>
                    <a:pt x="132091" y="458888"/>
                  </a:lnTo>
                  <a:lnTo>
                    <a:pt x="173639" y="477101"/>
                  </a:lnTo>
                  <a:lnTo>
                    <a:pt x="218760" y="488539"/>
                  </a:lnTo>
                  <a:lnTo>
                    <a:pt x="266700" y="492506"/>
                  </a:lnTo>
                  <a:lnTo>
                    <a:pt x="314639" y="488539"/>
                  </a:lnTo>
                  <a:lnTo>
                    <a:pt x="359760" y="477101"/>
                  </a:lnTo>
                  <a:lnTo>
                    <a:pt x="401308" y="458888"/>
                  </a:lnTo>
                  <a:lnTo>
                    <a:pt x="438531" y="434595"/>
                  </a:lnTo>
                  <a:lnTo>
                    <a:pt x="470675" y="404916"/>
                  </a:lnTo>
                  <a:lnTo>
                    <a:pt x="496987" y="370548"/>
                  </a:lnTo>
                  <a:lnTo>
                    <a:pt x="516714" y="332184"/>
                  </a:lnTo>
                  <a:lnTo>
                    <a:pt x="529103" y="290521"/>
                  </a:lnTo>
                  <a:lnTo>
                    <a:pt x="533400" y="246252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457200" y="3950461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2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400" y="246252"/>
                  </a:lnTo>
                  <a:lnTo>
                    <a:pt x="529103" y="290521"/>
                  </a:lnTo>
                  <a:lnTo>
                    <a:pt x="516714" y="332184"/>
                  </a:lnTo>
                  <a:lnTo>
                    <a:pt x="496987" y="370548"/>
                  </a:lnTo>
                  <a:lnTo>
                    <a:pt x="470675" y="404916"/>
                  </a:lnTo>
                  <a:lnTo>
                    <a:pt x="438531" y="434595"/>
                  </a:lnTo>
                  <a:lnTo>
                    <a:pt x="401308" y="458888"/>
                  </a:lnTo>
                  <a:lnTo>
                    <a:pt x="359760" y="477101"/>
                  </a:lnTo>
                  <a:lnTo>
                    <a:pt x="314639" y="488539"/>
                  </a:lnTo>
                  <a:lnTo>
                    <a:pt x="266700" y="492506"/>
                  </a:lnTo>
                  <a:lnTo>
                    <a:pt x="218760" y="488539"/>
                  </a:lnTo>
                  <a:lnTo>
                    <a:pt x="173639" y="477101"/>
                  </a:lnTo>
                  <a:lnTo>
                    <a:pt x="132091" y="458888"/>
                  </a:lnTo>
                  <a:lnTo>
                    <a:pt x="94868" y="434595"/>
                  </a:lnTo>
                  <a:lnTo>
                    <a:pt x="62724" y="404916"/>
                  </a:lnTo>
                  <a:lnTo>
                    <a:pt x="36412" y="370548"/>
                  </a:lnTo>
                  <a:lnTo>
                    <a:pt x="16685" y="332184"/>
                  </a:lnTo>
                  <a:lnTo>
                    <a:pt x="4296" y="290521"/>
                  </a:lnTo>
                  <a:lnTo>
                    <a:pt x="0" y="24625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p44"/>
          <p:cNvGrpSpPr/>
          <p:nvPr/>
        </p:nvGrpSpPr>
        <p:grpSpPr>
          <a:xfrm>
            <a:off x="796391" y="4776663"/>
            <a:ext cx="533400" cy="492760"/>
            <a:chOff x="491616" y="4571238"/>
            <a:chExt cx="533400" cy="492760"/>
          </a:xfrm>
        </p:grpSpPr>
        <p:sp>
          <p:nvSpPr>
            <p:cNvPr id="357" name="Google Shape;357;p44"/>
            <p:cNvSpPr/>
            <p:nvPr/>
          </p:nvSpPr>
          <p:spPr>
            <a:xfrm>
              <a:off x="491616" y="4571238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3"/>
                  </a:lnTo>
                  <a:lnTo>
                    <a:pt x="4296" y="290483"/>
                  </a:lnTo>
                  <a:lnTo>
                    <a:pt x="16685" y="332117"/>
                  </a:lnTo>
                  <a:lnTo>
                    <a:pt x="36412" y="370459"/>
                  </a:lnTo>
                  <a:lnTo>
                    <a:pt x="62724" y="404811"/>
                  </a:lnTo>
                  <a:lnTo>
                    <a:pt x="94868" y="434479"/>
                  </a:lnTo>
                  <a:lnTo>
                    <a:pt x="132091" y="458766"/>
                  </a:lnTo>
                  <a:lnTo>
                    <a:pt x="173639" y="476975"/>
                  </a:lnTo>
                  <a:lnTo>
                    <a:pt x="218760" y="488412"/>
                  </a:lnTo>
                  <a:lnTo>
                    <a:pt x="266700" y="492379"/>
                  </a:lnTo>
                  <a:lnTo>
                    <a:pt x="314639" y="488412"/>
                  </a:lnTo>
                  <a:lnTo>
                    <a:pt x="359760" y="476975"/>
                  </a:lnTo>
                  <a:lnTo>
                    <a:pt x="401308" y="458766"/>
                  </a:lnTo>
                  <a:lnTo>
                    <a:pt x="438531" y="434479"/>
                  </a:lnTo>
                  <a:lnTo>
                    <a:pt x="470675" y="404811"/>
                  </a:lnTo>
                  <a:lnTo>
                    <a:pt x="496987" y="370459"/>
                  </a:lnTo>
                  <a:lnTo>
                    <a:pt x="516714" y="332117"/>
                  </a:lnTo>
                  <a:lnTo>
                    <a:pt x="529103" y="290483"/>
                  </a:lnTo>
                  <a:lnTo>
                    <a:pt x="533399" y="246253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491616" y="4571238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3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399" y="246253"/>
                  </a:lnTo>
                  <a:lnTo>
                    <a:pt x="529103" y="290483"/>
                  </a:lnTo>
                  <a:lnTo>
                    <a:pt x="516714" y="332117"/>
                  </a:lnTo>
                  <a:lnTo>
                    <a:pt x="496987" y="370459"/>
                  </a:lnTo>
                  <a:lnTo>
                    <a:pt x="470675" y="404811"/>
                  </a:lnTo>
                  <a:lnTo>
                    <a:pt x="438531" y="434479"/>
                  </a:lnTo>
                  <a:lnTo>
                    <a:pt x="401308" y="458766"/>
                  </a:lnTo>
                  <a:lnTo>
                    <a:pt x="359760" y="476975"/>
                  </a:lnTo>
                  <a:lnTo>
                    <a:pt x="314639" y="488412"/>
                  </a:lnTo>
                  <a:lnTo>
                    <a:pt x="266700" y="492379"/>
                  </a:lnTo>
                  <a:lnTo>
                    <a:pt x="218760" y="488412"/>
                  </a:lnTo>
                  <a:lnTo>
                    <a:pt x="173639" y="476975"/>
                  </a:lnTo>
                  <a:lnTo>
                    <a:pt x="132091" y="458766"/>
                  </a:lnTo>
                  <a:lnTo>
                    <a:pt x="94868" y="434479"/>
                  </a:lnTo>
                  <a:lnTo>
                    <a:pt x="62724" y="404811"/>
                  </a:lnTo>
                  <a:lnTo>
                    <a:pt x="36412" y="370459"/>
                  </a:lnTo>
                  <a:lnTo>
                    <a:pt x="16685" y="332117"/>
                  </a:lnTo>
                  <a:lnTo>
                    <a:pt x="4296" y="290483"/>
                  </a:lnTo>
                  <a:lnTo>
                    <a:pt x="0" y="246253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44"/>
          <p:cNvGrpSpPr/>
          <p:nvPr/>
        </p:nvGrpSpPr>
        <p:grpSpPr>
          <a:xfrm>
            <a:off x="796409" y="5477871"/>
            <a:ext cx="533400" cy="492760"/>
            <a:chOff x="476859" y="5240146"/>
            <a:chExt cx="533400" cy="492760"/>
          </a:xfrm>
        </p:grpSpPr>
        <p:sp>
          <p:nvSpPr>
            <p:cNvPr id="360" name="Google Shape;360;p44"/>
            <p:cNvSpPr/>
            <p:nvPr/>
          </p:nvSpPr>
          <p:spPr>
            <a:xfrm>
              <a:off x="476859" y="5240146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2"/>
                  </a:lnTo>
                  <a:lnTo>
                    <a:pt x="4296" y="290510"/>
                  </a:lnTo>
                  <a:lnTo>
                    <a:pt x="16685" y="332166"/>
                  </a:lnTo>
                  <a:lnTo>
                    <a:pt x="36412" y="370524"/>
                  </a:lnTo>
                  <a:lnTo>
                    <a:pt x="62724" y="404890"/>
                  </a:lnTo>
                  <a:lnTo>
                    <a:pt x="94868" y="434568"/>
                  </a:lnTo>
                  <a:lnTo>
                    <a:pt x="132091" y="458861"/>
                  </a:lnTo>
                  <a:lnTo>
                    <a:pt x="173639" y="477074"/>
                  </a:lnTo>
                  <a:lnTo>
                    <a:pt x="218760" y="488513"/>
                  </a:lnTo>
                  <a:lnTo>
                    <a:pt x="266700" y="492480"/>
                  </a:lnTo>
                  <a:lnTo>
                    <a:pt x="314639" y="488513"/>
                  </a:lnTo>
                  <a:lnTo>
                    <a:pt x="359760" y="477074"/>
                  </a:lnTo>
                  <a:lnTo>
                    <a:pt x="401308" y="458861"/>
                  </a:lnTo>
                  <a:lnTo>
                    <a:pt x="438531" y="434568"/>
                  </a:lnTo>
                  <a:lnTo>
                    <a:pt x="470675" y="404890"/>
                  </a:lnTo>
                  <a:lnTo>
                    <a:pt x="496987" y="370524"/>
                  </a:lnTo>
                  <a:lnTo>
                    <a:pt x="516714" y="332166"/>
                  </a:lnTo>
                  <a:lnTo>
                    <a:pt x="529103" y="290510"/>
                  </a:lnTo>
                  <a:lnTo>
                    <a:pt x="533400" y="246252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476859" y="5240146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2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400" y="246252"/>
                  </a:lnTo>
                  <a:lnTo>
                    <a:pt x="529103" y="290510"/>
                  </a:lnTo>
                  <a:lnTo>
                    <a:pt x="516714" y="332166"/>
                  </a:lnTo>
                  <a:lnTo>
                    <a:pt x="496987" y="370524"/>
                  </a:lnTo>
                  <a:lnTo>
                    <a:pt x="470675" y="404890"/>
                  </a:lnTo>
                  <a:lnTo>
                    <a:pt x="438531" y="434568"/>
                  </a:lnTo>
                  <a:lnTo>
                    <a:pt x="401308" y="458861"/>
                  </a:lnTo>
                  <a:lnTo>
                    <a:pt x="359760" y="477074"/>
                  </a:lnTo>
                  <a:lnTo>
                    <a:pt x="314639" y="488513"/>
                  </a:lnTo>
                  <a:lnTo>
                    <a:pt x="266700" y="492480"/>
                  </a:lnTo>
                  <a:lnTo>
                    <a:pt x="218760" y="488513"/>
                  </a:lnTo>
                  <a:lnTo>
                    <a:pt x="173639" y="477074"/>
                  </a:lnTo>
                  <a:lnTo>
                    <a:pt x="132091" y="458861"/>
                  </a:lnTo>
                  <a:lnTo>
                    <a:pt x="94868" y="434568"/>
                  </a:lnTo>
                  <a:lnTo>
                    <a:pt x="62724" y="404890"/>
                  </a:lnTo>
                  <a:lnTo>
                    <a:pt x="36412" y="370524"/>
                  </a:lnTo>
                  <a:lnTo>
                    <a:pt x="16685" y="332166"/>
                  </a:lnTo>
                  <a:lnTo>
                    <a:pt x="4296" y="290510"/>
                  </a:lnTo>
                  <a:lnTo>
                    <a:pt x="0" y="24625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44"/>
          <p:cNvSpPr txBox="1"/>
          <p:nvPr/>
        </p:nvSpPr>
        <p:spPr>
          <a:xfrm>
            <a:off x="887650" y="1044350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869200" y="1771375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883950" y="2515150"/>
            <a:ext cx="5301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887650" y="3237125"/>
            <a:ext cx="5301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4"/>
          <p:cNvSpPr txBox="1"/>
          <p:nvPr/>
        </p:nvSpPr>
        <p:spPr>
          <a:xfrm>
            <a:off x="907300" y="3985825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4"/>
          <p:cNvSpPr txBox="1"/>
          <p:nvPr/>
        </p:nvSpPr>
        <p:spPr>
          <a:xfrm>
            <a:off x="872875" y="4750275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4"/>
          <p:cNvSpPr txBox="1"/>
          <p:nvPr/>
        </p:nvSpPr>
        <p:spPr>
          <a:xfrm>
            <a:off x="887650" y="5468375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44"/>
          <p:cNvGrpSpPr/>
          <p:nvPr/>
        </p:nvGrpSpPr>
        <p:grpSpPr>
          <a:xfrm>
            <a:off x="1558409" y="6243309"/>
            <a:ext cx="6915150" cy="492760"/>
            <a:chOff x="1238859" y="5218684"/>
            <a:chExt cx="6915150" cy="492760"/>
          </a:xfrm>
        </p:grpSpPr>
        <p:sp>
          <p:nvSpPr>
            <p:cNvPr id="370" name="Google Shape;370;p44"/>
            <p:cNvSpPr/>
            <p:nvPr/>
          </p:nvSpPr>
          <p:spPr>
            <a:xfrm>
              <a:off x="1238859" y="5218684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6832498" y="0"/>
                  </a:moveTo>
                  <a:lnTo>
                    <a:pt x="82067" y="0"/>
                  </a:lnTo>
                  <a:lnTo>
                    <a:pt x="50116" y="6463"/>
                  </a:lnTo>
                  <a:lnTo>
                    <a:pt x="24031" y="24082"/>
                  </a:lnTo>
                  <a:lnTo>
                    <a:pt x="6447" y="50202"/>
                  </a:lnTo>
                  <a:lnTo>
                    <a:pt x="0" y="82169"/>
                  </a:lnTo>
                  <a:lnTo>
                    <a:pt x="0" y="410400"/>
                  </a:lnTo>
                  <a:lnTo>
                    <a:pt x="6447" y="442347"/>
                  </a:lnTo>
                  <a:lnTo>
                    <a:pt x="24031" y="468437"/>
                  </a:lnTo>
                  <a:lnTo>
                    <a:pt x="50116" y="486029"/>
                  </a:lnTo>
                  <a:lnTo>
                    <a:pt x="82067" y="492480"/>
                  </a:lnTo>
                  <a:lnTo>
                    <a:pt x="6832498" y="492480"/>
                  </a:lnTo>
                  <a:lnTo>
                    <a:pt x="6864444" y="486029"/>
                  </a:lnTo>
                  <a:lnTo>
                    <a:pt x="6890521" y="468437"/>
                  </a:lnTo>
                  <a:lnTo>
                    <a:pt x="6908097" y="442347"/>
                  </a:lnTo>
                  <a:lnTo>
                    <a:pt x="6914540" y="410400"/>
                  </a:lnTo>
                  <a:lnTo>
                    <a:pt x="6914540" y="82169"/>
                  </a:lnTo>
                  <a:lnTo>
                    <a:pt x="6908097" y="50202"/>
                  </a:lnTo>
                  <a:lnTo>
                    <a:pt x="6890521" y="24082"/>
                  </a:lnTo>
                  <a:lnTo>
                    <a:pt x="6864444" y="6463"/>
                  </a:lnTo>
                  <a:lnTo>
                    <a:pt x="6832498" y="0"/>
                  </a:lnTo>
                  <a:close/>
                </a:path>
              </a:pathLst>
            </a:custGeom>
            <a:solidFill>
              <a:srgbClr val="8EB4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1238859" y="5218684"/>
              <a:ext cx="6915150" cy="492760"/>
            </a:xfrm>
            <a:custGeom>
              <a:avLst/>
              <a:gdLst/>
              <a:ahLst/>
              <a:cxnLst/>
              <a:rect l="l" t="t" r="r" b="b"/>
              <a:pathLst>
                <a:path w="6915150" h="492760" extrusionOk="0">
                  <a:moveTo>
                    <a:pt x="0" y="82169"/>
                  </a:moveTo>
                  <a:lnTo>
                    <a:pt x="6447" y="50202"/>
                  </a:lnTo>
                  <a:lnTo>
                    <a:pt x="24031" y="24082"/>
                  </a:lnTo>
                  <a:lnTo>
                    <a:pt x="50116" y="6463"/>
                  </a:lnTo>
                  <a:lnTo>
                    <a:pt x="82067" y="0"/>
                  </a:lnTo>
                  <a:lnTo>
                    <a:pt x="6832498" y="0"/>
                  </a:lnTo>
                  <a:lnTo>
                    <a:pt x="6864444" y="6463"/>
                  </a:lnTo>
                  <a:lnTo>
                    <a:pt x="6890521" y="24082"/>
                  </a:lnTo>
                  <a:lnTo>
                    <a:pt x="6908097" y="50202"/>
                  </a:lnTo>
                  <a:lnTo>
                    <a:pt x="6914540" y="82169"/>
                  </a:lnTo>
                  <a:lnTo>
                    <a:pt x="6914540" y="410400"/>
                  </a:lnTo>
                  <a:lnTo>
                    <a:pt x="6908097" y="442347"/>
                  </a:lnTo>
                  <a:lnTo>
                    <a:pt x="6890521" y="468437"/>
                  </a:lnTo>
                  <a:lnTo>
                    <a:pt x="6864444" y="486029"/>
                  </a:lnTo>
                  <a:lnTo>
                    <a:pt x="6832498" y="492480"/>
                  </a:lnTo>
                  <a:lnTo>
                    <a:pt x="82067" y="492480"/>
                  </a:lnTo>
                  <a:lnTo>
                    <a:pt x="50116" y="486029"/>
                  </a:lnTo>
                  <a:lnTo>
                    <a:pt x="24031" y="468437"/>
                  </a:lnTo>
                  <a:lnTo>
                    <a:pt x="6447" y="442347"/>
                  </a:lnTo>
                  <a:lnTo>
                    <a:pt x="0" y="410400"/>
                  </a:lnTo>
                  <a:lnTo>
                    <a:pt x="0" y="82169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44"/>
          <p:cNvSpPr txBox="1"/>
          <p:nvPr/>
        </p:nvSpPr>
        <p:spPr>
          <a:xfrm>
            <a:off x="1705475" y="6187375"/>
            <a:ext cx="63744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3" name="Google Shape;373;p44"/>
          <p:cNvGrpSpPr/>
          <p:nvPr/>
        </p:nvGrpSpPr>
        <p:grpSpPr>
          <a:xfrm>
            <a:off x="796409" y="6188571"/>
            <a:ext cx="533400" cy="492760"/>
            <a:chOff x="476859" y="5240146"/>
            <a:chExt cx="533400" cy="492760"/>
          </a:xfrm>
        </p:grpSpPr>
        <p:sp>
          <p:nvSpPr>
            <p:cNvPr id="374" name="Google Shape;374;p44"/>
            <p:cNvSpPr/>
            <p:nvPr/>
          </p:nvSpPr>
          <p:spPr>
            <a:xfrm>
              <a:off x="476859" y="5240146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266700" y="0"/>
                  </a:moveTo>
                  <a:lnTo>
                    <a:pt x="218760" y="3966"/>
                  </a:lnTo>
                  <a:lnTo>
                    <a:pt x="173639" y="15404"/>
                  </a:lnTo>
                  <a:lnTo>
                    <a:pt x="132091" y="33617"/>
                  </a:lnTo>
                  <a:lnTo>
                    <a:pt x="94868" y="57910"/>
                  </a:lnTo>
                  <a:lnTo>
                    <a:pt x="62724" y="87589"/>
                  </a:lnTo>
                  <a:lnTo>
                    <a:pt x="36412" y="121957"/>
                  </a:lnTo>
                  <a:lnTo>
                    <a:pt x="16685" y="160321"/>
                  </a:lnTo>
                  <a:lnTo>
                    <a:pt x="4296" y="201984"/>
                  </a:lnTo>
                  <a:lnTo>
                    <a:pt x="0" y="246252"/>
                  </a:lnTo>
                  <a:lnTo>
                    <a:pt x="4296" y="290510"/>
                  </a:lnTo>
                  <a:lnTo>
                    <a:pt x="16685" y="332166"/>
                  </a:lnTo>
                  <a:lnTo>
                    <a:pt x="36412" y="370524"/>
                  </a:lnTo>
                  <a:lnTo>
                    <a:pt x="62724" y="404890"/>
                  </a:lnTo>
                  <a:lnTo>
                    <a:pt x="94868" y="434568"/>
                  </a:lnTo>
                  <a:lnTo>
                    <a:pt x="132091" y="458861"/>
                  </a:lnTo>
                  <a:lnTo>
                    <a:pt x="173639" y="477074"/>
                  </a:lnTo>
                  <a:lnTo>
                    <a:pt x="218760" y="488513"/>
                  </a:lnTo>
                  <a:lnTo>
                    <a:pt x="266700" y="492480"/>
                  </a:lnTo>
                  <a:lnTo>
                    <a:pt x="314639" y="488513"/>
                  </a:lnTo>
                  <a:lnTo>
                    <a:pt x="359760" y="477074"/>
                  </a:lnTo>
                  <a:lnTo>
                    <a:pt x="401308" y="458861"/>
                  </a:lnTo>
                  <a:lnTo>
                    <a:pt x="438531" y="434568"/>
                  </a:lnTo>
                  <a:lnTo>
                    <a:pt x="470675" y="404890"/>
                  </a:lnTo>
                  <a:lnTo>
                    <a:pt x="496987" y="370524"/>
                  </a:lnTo>
                  <a:lnTo>
                    <a:pt x="516714" y="332166"/>
                  </a:lnTo>
                  <a:lnTo>
                    <a:pt x="529103" y="290510"/>
                  </a:lnTo>
                  <a:lnTo>
                    <a:pt x="533400" y="246252"/>
                  </a:lnTo>
                  <a:lnTo>
                    <a:pt x="529103" y="201984"/>
                  </a:lnTo>
                  <a:lnTo>
                    <a:pt x="516714" y="160321"/>
                  </a:lnTo>
                  <a:lnTo>
                    <a:pt x="496987" y="121957"/>
                  </a:lnTo>
                  <a:lnTo>
                    <a:pt x="470675" y="87589"/>
                  </a:lnTo>
                  <a:lnTo>
                    <a:pt x="438531" y="57910"/>
                  </a:lnTo>
                  <a:lnTo>
                    <a:pt x="401308" y="33617"/>
                  </a:lnTo>
                  <a:lnTo>
                    <a:pt x="359760" y="15404"/>
                  </a:lnTo>
                  <a:lnTo>
                    <a:pt x="314639" y="396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75F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476859" y="5240146"/>
              <a:ext cx="533400" cy="492760"/>
            </a:xfrm>
            <a:custGeom>
              <a:avLst/>
              <a:gdLst/>
              <a:ahLst/>
              <a:cxnLst/>
              <a:rect l="l" t="t" r="r" b="b"/>
              <a:pathLst>
                <a:path w="533400" h="492760" extrusionOk="0">
                  <a:moveTo>
                    <a:pt x="0" y="246252"/>
                  </a:moveTo>
                  <a:lnTo>
                    <a:pt x="4296" y="201984"/>
                  </a:lnTo>
                  <a:lnTo>
                    <a:pt x="16685" y="160321"/>
                  </a:lnTo>
                  <a:lnTo>
                    <a:pt x="36412" y="121957"/>
                  </a:lnTo>
                  <a:lnTo>
                    <a:pt x="62724" y="87589"/>
                  </a:lnTo>
                  <a:lnTo>
                    <a:pt x="94868" y="57910"/>
                  </a:lnTo>
                  <a:lnTo>
                    <a:pt x="132091" y="33617"/>
                  </a:lnTo>
                  <a:lnTo>
                    <a:pt x="173639" y="15404"/>
                  </a:lnTo>
                  <a:lnTo>
                    <a:pt x="218760" y="3966"/>
                  </a:lnTo>
                  <a:lnTo>
                    <a:pt x="266700" y="0"/>
                  </a:lnTo>
                  <a:lnTo>
                    <a:pt x="314639" y="3966"/>
                  </a:lnTo>
                  <a:lnTo>
                    <a:pt x="359760" y="15404"/>
                  </a:lnTo>
                  <a:lnTo>
                    <a:pt x="401308" y="33617"/>
                  </a:lnTo>
                  <a:lnTo>
                    <a:pt x="438531" y="57910"/>
                  </a:lnTo>
                  <a:lnTo>
                    <a:pt x="470675" y="87589"/>
                  </a:lnTo>
                  <a:lnTo>
                    <a:pt x="496987" y="121957"/>
                  </a:lnTo>
                  <a:lnTo>
                    <a:pt x="516714" y="160321"/>
                  </a:lnTo>
                  <a:lnTo>
                    <a:pt x="529103" y="201984"/>
                  </a:lnTo>
                  <a:lnTo>
                    <a:pt x="533400" y="246252"/>
                  </a:lnTo>
                  <a:lnTo>
                    <a:pt x="529103" y="290510"/>
                  </a:lnTo>
                  <a:lnTo>
                    <a:pt x="516714" y="332166"/>
                  </a:lnTo>
                  <a:lnTo>
                    <a:pt x="496987" y="370524"/>
                  </a:lnTo>
                  <a:lnTo>
                    <a:pt x="470675" y="404890"/>
                  </a:lnTo>
                  <a:lnTo>
                    <a:pt x="438531" y="434568"/>
                  </a:lnTo>
                  <a:lnTo>
                    <a:pt x="401308" y="458861"/>
                  </a:lnTo>
                  <a:lnTo>
                    <a:pt x="359760" y="477074"/>
                  </a:lnTo>
                  <a:lnTo>
                    <a:pt x="314639" y="488513"/>
                  </a:lnTo>
                  <a:lnTo>
                    <a:pt x="266700" y="492480"/>
                  </a:lnTo>
                  <a:lnTo>
                    <a:pt x="218760" y="488513"/>
                  </a:lnTo>
                  <a:lnTo>
                    <a:pt x="173639" y="477074"/>
                  </a:lnTo>
                  <a:lnTo>
                    <a:pt x="132091" y="458861"/>
                  </a:lnTo>
                  <a:lnTo>
                    <a:pt x="94868" y="434568"/>
                  </a:lnTo>
                  <a:lnTo>
                    <a:pt x="62724" y="404890"/>
                  </a:lnTo>
                  <a:lnTo>
                    <a:pt x="36412" y="370524"/>
                  </a:lnTo>
                  <a:lnTo>
                    <a:pt x="16685" y="332166"/>
                  </a:lnTo>
                  <a:lnTo>
                    <a:pt x="4296" y="290510"/>
                  </a:lnTo>
                  <a:lnTo>
                    <a:pt x="0" y="246252"/>
                  </a:lnTo>
                  <a:close/>
                </a:path>
              </a:pathLst>
            </a:custGeom>
            <a:noFill/>
            <a:ln w="25400" cap="flat" cmpd="sng">
              <a:solidFill>
                <a:srgbClr val="1C33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p44"/>
          <p:cNvSpPr txBox="1"/>
          <p:nvPr/>
        </p:nvSpPr>
        <p:spPr>
          <a:xfrm>
            <a:off x="887650" y="6179075"/>
            <a:ext cx="5200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-426725" y="301675"/>
            <a:ext cx="3612000" cy="3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795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3000" b="1" u="sng">
              <a:solidFill>
                <a:schemeClr val="dk1"/>
              </a:solidFill>
            </a:endParaRPr>
          </a:p>
        </p:txBody>
      </p:sp>
      <p:sp>
        <p:nvSpPr>
          <p:cNvPr id="381" name="Google Shape;381;p45"/>
          <p:cNvSpPr txBox="1"/>
          <p:nvPr/>
        </p:nvSpPr>
        <p:spPr>
          <a:xfrm>
            <a:off x="444500" y="1320825"/>
            <a:ext cx="8103152" cy="559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marR="508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>
              <a:buSzPts val="2200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Unsafe worker behavior + Missing </a:t>
            </a:r>
            <a:r>
              <a:rPr lang="en-IN"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ersonal Protective Equipment 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PPE (helmet, mask, vest) → Real-time safety risk on construction sites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Vision-based Safety Monitor using YOLOv8 + Human Pose Estimation + Real-time PPE Detection</a:t>
            </a:r>
            <a:endParaRPr sz="2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Detects PPE + workers, SORT/</a:t>
            </a:r>
            <a:r>
              <a:rPr lang="en-US" sz="2200" dirty="0" err="1">
                <a:latin typeface="Times New Roman"/>
                <a:ea typeface="Times New Roman"/>
                <a:cs typeface="Times New Roman"/>
                <a:sym typeface="Times New Roman"/>
              </a:rPr>
              <a:t>ByteTrack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integration.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Real-time PPE + Pose Detection, reduces site accidents | Applications: Construction, Safety, IoT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5080" lvl="0" indent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5"/>
          <p:cNvSpPr/>
          <p:nvPr/>
        </p:nvSpPr>
        <p:spPr>
          <a:xfrm>
            <a:off x="9083675" y="2845588"/>
            <a:ext cx="2386200" cy="707700"/>
          </a:xfrm>
          <a:prstGeom prst="roundRect">
            <a:avLst>
              <a:gd name="adj" fmla="val 16667"/>
            </a:avLst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PPE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5"/>
          <p:cNvSpPr/>
          <p:nvPr/>
        </p:nvSpPr>
        <p:spPr>
          <a:xfrm>
            <a:off x="9083675" y="1864300"/>
            <a:ext cx="2386200" cy="707700"/>
          </a:xfrm>
          <a:prstGeom prst="roundRect">
            <a:avLst>
              <a:gd name="adj" fmla="val 16667"/>
            </a:avLst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⚡Real-time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45"/>
          <p:cNvSpPr/>
          <p:nvPr/>
        </p:nvSpPr>
        <p:spPr>
          <a:xfrm>
            <a:off x="9083675" y="3826900"/>
            <a:ext cx="2386200" cy="707700"/>
          </a:xfrm>
          <a:prstGeom prst="roundRect">
            <a:avLst>
              <a:gd name="adj" fmla="val 16667"/>
            </a:avLst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🎙</a:t>
            </a: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5"/>
          <p:cNvSpPr/>
          <p:nvPr/>
        </p:nvSpPr>
        <p:spPr>
          <a:xfrm>
            <a:off x="9083675" y="4808200"/>
            <a:ext cx="2386200" cy="707700"/>
          </a:xfrm>
          <a:prstGeom prst="roundRect">
            <a:avLst>
              <a:gd name="adj" fmla="val 16667"/>
            </a:avLst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📑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ByteTrack integration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/>
        </p:nvSpPr>
        <p:spPr>
          <a:xfrm>
            <a:off x="4797297" y="370713"/>
            <a:ext cx="22326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6076975" y="1039375"/>
            <a:ext cx="5440800" cy="2723100"/>
          </a:xfrm>
          <a:prstGeom prst="rect">
            <a:avLst/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2539050" y="3836075"/>
            <a:ext cx="7113900" cy="1620000"/>
          </a:xfrm>
          <a:prstGeom prst="rect">
            <a:avLst/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429200" y="1039375"/>
            <a:ext cx="5440800" cy="2723100"/>
          </a:xfrm>
          <a:prstGeom prst="rect">
            <a:avLst/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6"/>
          <p:cNvSpPr txBox="1"/>
          <p:nvPr/>
        </p:nvSpPr>
        <p:spPr>
          <a:xfrm>
            <a:off x="775200" y="1039385"/>
            <a:ext cx="34629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safety </a:t>
            </a:r>
            <a:r>
              <a:rPr lang="en-US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matters ?</a:t>
            </a:r>
            <a:endParaRPr sz="2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6"/>
          <p:cNvSpPr txBox="1"/>
          <p:nvPr/>
        </p:nvSpPr>
        <p:spPr>
          <a:xfrm>
            <a:off x="754700" y="1455990"/>
            <a:ext cx="5115300" cy="17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Prevents 60%+ of site accidents caused by missing PPE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OSHA, 2023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Construction accounts for ~1 in 5 worker deaths globally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ILO, 2023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Real-time monitoring can cut accident rates by up to 40%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McKinsey, 2024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46"/>
          <p:cNvSpPr txBox="1"/>
          <p:nvPr/>
        </p:nvSpPr>
        <p:spPr>
          <a:xfrm>
            <a:off x="6153175" y="1039385"/>
            <a:ext cx="52884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Limitations of Existing Safety Monitoring Systems</a:t>
            </a:r>
            <a:endParaRPr sz="2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46"/>
          <p:cNvSpPr txBox="1"/>
          <p:nvPr/>
        </p:nvSpPr>
        <p:spPr>
          <a:xfrm>
            <a:off x="6086575" y="1713691"/>
            <a:ext cx="5355000" cy="22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PPE Detection → finds gear, ignores behavior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Automation in Construction, 2025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Pose Estimation → tracks movement, weak in real sites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OpenPose, 2025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Combined Models → separate tasks, miss real-time prevention (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FairMOT, 2021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2539050" y="3836063"/>
            <a:ext cx="14937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Gap</a:t>
            </a:r>
            <a:endParaRPr sz="2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46"/>
          <p:cNvSpPr txBox="1"/>
          <p:nvPr/>
        </p:nvSpPr>
        <p:spPr>
          <a:xfrm>
            <a:off x="2547775" y="4261700"/>
            <a:ext cx="69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Current systems = separate PPE &amp; pose, static image-based, not real-time.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Need: Integrated, context-aware, real-time safety monitoring.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1976700" y="5574150"/>
            <a:ext cx="8238600" cy="1122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address these gaps, we propose our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Vision-Based, Context-Aware Safety Monitoring System.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"/>
          <p:cNvSpPr txBox="1"/>
          <p:nvPr/>
        </p:nvSpPr>
        <p:spPr>
          <a:xfrm>
            <a:off x="4478300" y="347475"/>
            <a:ext cx="35964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47"/>
          <p:cNvSpPr txBox="1"/>
          <p:nvPr/>
        </p:nvSpPr>
        <p:spPr>
          <a:xfrm>
            <a:off x="714150" y="1325375"/>
            <a:ext cx="10763700" cy="5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</a:rPr>
              <a:t>Construction workers face </a:t>
            </a:r>
            <a:r>
              <a:rPr lang="en-US" sz="2100" b="1">
                <a:solidFill>
                  <a:schemeClr val="dk1"/>
                </a:solidFill>
              </a:rPr>
              <a:t>high risks</a:t>
            </a:r>
            <a:r>
              <a:rPr lang="en-US" sz="2100">
                <a:solidFill>
                  <a:schemeClr val="dk1"/>
                </a:solidFill>
              </a:rPr>
              <a:t> due to </a:t>
            </a:r>
            <a:r>
              <a:rPr lang="en-US" sz="2100" b="1">
                <a:solidFill>
                  <a:schemeClr val="dk1"/>
                </a:solidFill>
              </a:rPr>
              <a:t>unsafe practices</a:t>
            </a:r>
            <a:r>
              <a:rPr lang="en-US" sz="2100">
                <a:solidFill>
                  <a:schemeClr val="dk1"/>
                </a:solidFill>
              </a:rPr>
              <a:t> and </a:t>
            </a:r>
            <a:r>
              <a:rPr lang="en-US" sz="2100" b="1">
                <a:solidFill>
                  <a:schemeClr val="dk1"/>
                </a:solidFill>
              </a:rPr>
              <a:t>non-compliance with PPE</a:t>
            </a:r>
            <a:r>
              <a:rPr lang="en-US" sz="2100">
                <a:solidFill>
                  <a:schemeClr val="dk1"/>
                </a:solidFill>
              </a:rPr>
              <a:t>, leading to frequent </a:t>
            </a:r>
            <a:r>
              <a:rPr lang="en-US" sz="2100" b="1">
                <a:solidFill>
                  <a:schemeClr val="dk1"/>
                </a:solidFill>
              </a:rPr>
              <a:t>accidents</a:t>
            </a:r>
            <a:r>
              <a:rPr lang="en-US" sz="2100">
                <a:solidFill>
                  <a:schemeClr val="dk1"/>
                </a:solidFill>
              </a:rPr>
              <a:t> and </a:t>
            </a:r>
            <a:r>
              <a:rPr lang="en-US" sz="2100" b="1">
                <a:solidFill>
                  <a:schemeClr val="dk1"/>
                </a:solidFill>
              </a:rPr>
              <a:t>fatalities</a:t>
            </a:r>
            <a:r>
              <a:rPr lang="en-US" sz="2100">
                <a:solidFill>
                  <a:schemeClr val="dk1"/>
                </a:solidFill>
              </a:rPr>
              <a:t>. Existing </a:t>
            </a:r>
            <a:r>
              <a:rPr lang="en-US" sz="2100" b="1">
                <a:solidFill>
                  <a:schemeClr val="dk1"/>
                </a:solidFill>
              </a:rPr>
              <a:t>AI-based safety systems</a:t>
            </a:r>
            <a:r>
              <a:rPr lang="en-US" sz="2100">
                <a:solidFill>
                  <a:schemeClr val="dk1"/>
                </a:solidFill>
              </a:rPr>
              <a:t> are either limited to </a:t>
            </a:r>
            <a:r>
              <a:rPr lang="en-US" sz="2100" b="1">
                <a:solidFill>
                  <a:schemeClr val="dk1"/>
                </a:solidFill>
              </a:rPr>
              <a:t>PPE detection</a:t>
            </a:r>
            <a:r>
              <a:rPr lang="en-US" sz="2100">
                <a:solidFill>
                  <a:schemeClr val="dk1"/>
                </a:solidFill>
              </a:rPr>
              <a:t> or </a:t>
            </a:r>
            <a:r>
              <a:rPr lang="en-US" sz="2100" b="1">
                <a:solidFill>
                  <a:schemeClr val="dk1"/>
                </a:solidFill>
              </a:rPr>
              <a:t>posture estimation</a:t>
            </a:r>
            <a:r>
              <a:rPr lang="en-US" sz="2100">
                <a:solidFill>
                  <a:schemeClr val="dk1"/>
                </a:solidFill>
              </a:rPr>
              <a:t>, making them </a:t>
            </a:r>
            <a:r>
              <a:rPr lang="en-US" sz="2100" b="1">
                <a:solidFill>
                  <a:schemeClr val="dk1"/>
                </a:solidFill>
              </a:rPr>
              <a:t>generic</a:t>
            </a:r>
            <a:r>
              <a:rPr lang="en-US" sz="2100">
                <a:solidFill>
                  <a:schemeClr val="dk1"/>
                </a:solidFill>
              </a:rPr>
              <a:t>, </a:t>
            </a:r>
            <a:r>
              <a:rPr lang="en-US" sz="2100" b="1">
                <a:solidFill>
                  <a:schemeClr val="dk1"/>
                </a:solidFill>
              </a:rPr>
              <a:t>static</a:t>
            </a:r>
            <a:r>
              <a:rPr lang="en-US" sz="2100">
                <a:solidFill>
                  <a:schemeClr val="dk1"/>
                </a:solidFill>
              </a:rPr>
              <a:t>, and ineffective in </a:t>
            </a:r>
            <a:r>
              <a:rPr lang="en-US" sz="2100" b="1">
                <a:solidFill>
                  <a:schemeClr val="dk1"/>
                </a:solidFill>
              </a:rPr>
              <a:t>real-world, cluttered site environments</a:t>
            </a:r>
            <a:r>
              <a:rPr lang="en-US" sz="2100">
                <a:solidFill>
                  <a:schemeClr val="dk1"/>
                </a:solidFill>
              </a:rPr>
              <a:t>. Their lack of </a:t>
            </a:r>
            <a:r>
              <a:rPr lang="en-US" sz="2100" b="1">
                <a:solidFill>
                  <a:schemeClr val="dk1"/>
                </a:solidFill>
              </a:rPr>
              <a:t>integration</a:t>
            </a:r>
            <a:r>
              <a:rPr lang="en-US" sz="2100">
                <a:solidFill>
                  <a:schemeClr val="dk1"/>
                </a:solidFill>
              </a:rPr>
              <a:t>, </a:t>
            </a:r>
            <a:r>
              <a:rPr lang="en-US" sz="2100" b="1">
                <a:solidFill>
                  <a:schemeClr val="dk1"/>
                </a:solidFill>
              </a:rPr>
              <a:t>contextual awareness</a:t>
            </a:r>
            <a:r>
              <a:rPr lang="en-US" sz="2100">
                <a:solidFill>
                  <a:schemeClr val="dk1"/>
                </a:solidFill>
              </a:rPr>
              <a:t>, and </a:t>
            </a:r>
            <a:r>
              <a:rPr lang="en-US" sz="2100" b="1">
                <a:solidFill>
                  <a:schemeClr val="dk1"/>
                </a:solidFill>
              </a:rPr>
              <a:t>real-time adaptability</a:t>
            </a:r>
            <a:r>
              <a:rPr lang="en-US" sz="2100">
                <a:solidFill>
                  <a:schemeClr val="dk1"/>
                </a:solidFill>
              </a:rPr>
              <a:t> prevents accurate </a:t>
            </a:r>
            <a:r>
              <a:rPr lang="en-US" sz="2100" b="1">
                <a:solidFill>
                  <a:schemeClr val="dk1"/>
                </a:solidFill>
              </a:rPr>
              <a:t>risk assessment</a:t>
            </a:r>
            <a:r>
              <a:rPr lang="en-US" sz="2100">
                <a:solidFill>
                  <a:schemeClr val="dk1"/>
                </a:solidFill>
              </a:rPr>
              <a:t> and </a:t>
            </a:r>
            <a:r>
              <a:rPr lang="en-US" sz="2100" b="1">
                <a:solidFill>
                  <a:schemeClr val="dk1"/>
                </a:solidFill>
              </a:rPr>
              <a:t>proactive accident prevention</a:t>
            </a:r>
            <a:r>
              <a:rPr lang="en-US" sz="2100">
                <a:solidFill>
                  <a:schemeClr val="dk1"/>
                </a:solidFill>
              </a:rPr>
              <a:t>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</a:rPr>
              <a:t>A </a:t>
            </a:r>
            <a:r>
              <a:rPr lang="en-US" sz="2100" b="1">
                <a:solidFill>
                  <a:schemeClr val="dk1"/>
                </a:solidFill>
              </a:rPr>
              <a:t>vision-based, context-aware safety monitoring system</a:t>
            </a:r>
            <a:r>
              <a:rPr lang="en-US" sz="2100">
                <a:solidFill>
                  <a:schemeClr val="dk1"/>
                </a:solidFill>
              </a:rPr>
              <a:t> can combine </a:t>
            </a:r>
            <a:r>
              <a:rPr lang="en-US" sz="2100" b="1">
                <a:solidFill>
                  <a:schemeClr val="dk1"/>
                </a:solidFill>
              </a:rPr>
              <a:t>PPE detection</a:t>
            </a:r>
            <a:r>
              <a:rPr lang="en-US" sz="2100">
                <a:solidFill>
                  <a:schemeClr val="dk1"/>
                </a:solidFill>
              </a:rPr>
              <a:t> with </a:t>
            </a:r>
            <a:r>
              <a:rPr lang="en-US" sz="2100" b="1">
                <a:solidFill>
                  <a:schemeClr val="dk1"/>
                </a:solidFill>
              </a:rPr>
              <a:t>human pose estimation</a:t>
            </a:r>
            <a:r>
              <a:rPr lang="en-US" sz="2100">
                <a:solidFill>
                  <a:schemeClr val="dk1"/>
                </a:solidFill>
              </a:rPr>
              <a:t> to deliver </a:t>
            </a:r>
            <a:r>
              <a:rPr lang="en-US" sz="2100" b="1">
                <a:solidFill>
                  <a:schemeClr val="dk1"/>
                </a:solidFill>
              </a:rPr>
              <a:t>real-time, dynamic safety insights</a:t>
            </a:r>
            <a:r>
              <a:rPr lang="en-US" sz="2100">
                <a:solidFill>
                  <a:schemeClr val="dk1"/>
                </a:solidFill>
              </a:rPr>
              <a:t>. By leveraging </a:t>
            </a:r>
            <a:r>
              <a:rPr lang="en-US" sz="2100" b="1">
                <a:solidFill>
                  <a:schemeClr val="dk1"/>
                </a:solidFill>
              </a:rPr>
              <a:t>AI-driven recognition</a:t>
            </a:r>
            <a:r>
              <a:rPr lang="en-US" sz="2100">
                <a:solidFill>
                  <a:schemeClr val="dk1"/>
                </a:solidFill>
              </a:rPr>
              <a:t>, </a:t>
            </a:r>
            <a:r>
              <a:rPr lang="en-US" sz="2100" b="1">
                <a:solidFill>
                  <a:schemeClr val="dk1"/>
                </a:solidFill>
              </a:rPr>
              <a:t>continuous monitoring</a:t>
            </a:r>
            <a:r>
              <a:rPr lang="en-US" sz="2100">
                <a:solidFill>
                  <a:schemeClr val="dk1"/>
                </a:solidFill>
              </a:rPr>
              <a:t>, and </a:t>
            </a:r>
            <a:r>
              <a:rPr lang="en-US" sz="2100" b="1">
                <a:solidFill>
                  <a:schemeClr val="dk1"/>
                </a:solidFill>
              </a:rPr>
              <a:t>proactive alerts</a:t>
            </a:r>
            <a:r>
              <a:rPr lang="en-US" sz="2100">
                <a:solidFill>
                  <a:schemeClr val="dk1"/>
                </a:solidFill>
              </a:rPr>
              <a:t>, it can </a:t>
            </a:r>
            <a:r>
              <a:rPr lang="en-US" sz="2100" b="1">
                <a:solidFill>
                  <a:schemeClr val="dk1"/>
                </a:solidFill>
              </a:rPr>
              <a:t>reduce accidents</a:t>
            </a:r>
            <a:r>
              <a:rPr lang="en-US" sz="2100">
                <a:solidFill>
                  <a:schemeClr val="dk1"/>
                </a:solidFill>
              </a:rPr>
              <a:t>, improve </a:t>
            </a:r>
            <a:r>
              <a:rPr lang="en-US" sz="2100" b="1">
                <a:solidFill>
                  <a:schemeClr val="dk1"/>
                </a:solidFill>
              </a:rPr>
              <a:t>compliance</a:t>
            </a:r>
            <a:r>
              <a:rPr lang="en-US" sz="2100">
                <a:solidFill>
                  <a:schemeClr val="dk1"/>
                </a:solidFill>
              </a:rPr>
              <a:t>, and enhance </a:t>
            </a:r>
            <a:r>
              <a:rPr lang="en-US" sz="2100" b="1">
                <a:solidFill>
                  <a:schemeClr val="dk1"/>
                </a:solidFill>
              </a:rPr>
              <a:t>worker protection</a:t>
            </a:r>
            <a:r>
              <a:rPr lang="en-US" sz="2100">
                <a:solidFill>
                  <a:schemeClr val="dk1"/>
                </a:solidFill>
              </a:rPr>
              <a:t> on </a:t>
            </a:r>
            <a:r>
              <a:rPr lang="en-US" sz="2100" b="1">
                <a:solidFill>
                  <a:schemeClr val="dk1"/>
                </a:solidFill>
              </a:rPr>
              <a:t>construction sites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 txBox="1"/>
          <p:nvPr/>
        </p:nvSpPr>
        <p:spPr>
          <a:xfrm>
            <a:off x="4630700" y="347475"/>
            <a:ext cx="22014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662260" y="1232100"/>
            <a:ext cx="10584300" cy="56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utfit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Enhance Safety &amp; Compliance</a:t>
            </a:r>
            <a:r>
              <a:rPr lang="en-US" sz="2100" dirty="0">
                <a:solidFill>
                  <a:schemeClr val="dk1"/>
                </a:solidFill>
              </a:rPr>
              <a:t> → Detect and monitor PPE (helmets, masks, vests) to reduce site accidents.</a:t>
            </a:r>
            <a:br>
              <a:rPr lang="en-US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utfit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Combine Detection &amp; Behavior</a:t>
            </a:r>
            <a:r>
              <a:rPr lang="en-US" sz="2100" dirty="0">
                <a:solidFill>
                  <a:schemeClr val="dk1"/>
                </a:solidFill>
              </a:rPr>
              <a:t> → Integrate YOLOv8 object detection with human pose estimation for holistic safety analysis.</a:t>
            </a:r>
            <a:br>
              <a:rPr lang="en-US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utfit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Enable Real-Time Monitoring</a:t>
            </a:r>
            <a:r>
              <a:rPr lang="en-US" sz="2100" dirty="0">
                <a:solidFill>
                  <a:schemeClr val="dk1"/>
                </a:solidFill>
              </a:rPr>
              <a:t> → Deliver fast, accurate insights suitable for dynamic construction environments.</a:t>
            </a:r>
            <a:br>
              <a:rPr lang="en-US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utfit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Lay Groundwork for Future</a:t>
            </a:r>
            <a:r>
              <a:rPr lang="en-US" sz="2100" dirty="0">
                <a:solidFill>
                  <a:schemeClr val="dk1"/>
                </a:solidFill>
              </a:rPr>
              <a:t> → Enable IoT-based alerts and tracking (SORT/</a:t>
            </a:r>
            <a:r>
              <a:rPr lang="en-US" sz="2100" dirty="0" err="1">
                <a:solidFill>
                  <a:schemeClr val="dk1"/>
                </a:solidFill>
              </a:rPr>
              <a:t>ByteTrack</a:t>
            </a:r>
            <a:r>
              <a:rPr lang="en-US" sz="2100" dirty="0">
                <a:solidFill>
                  <a:schemeClr val="dk1"/>
                </a:solidFill>
              </a:rPr>
              <a:t>) for proactive safety systems.</a:t>
            </a:r>
            <a:endParaRPr sz="2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/>
        </p:nvSpPr>
        <p:spPr>
          <a:xfrm>
            <a:off x="4001770" y="214325"/>
            <a:ext cx="4188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850" rIns="0" bIns="0" anchor="t" anchorCtr="0">
            <a:spAutoFit/>
          </a:bodyPr>
          <a:lstStyle/>
          <a:p>
            <a:pPr marL="8604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8" name="Google Shape;418;p49"/>
          <p:cNvGraphicFramePr/>
          <p:nvPr>
            <p:extLst>
              <p:ext uri="{D42A27DB-BD31-4B8C-83A1-F6EECF244321}">
                <p14:modId xmlns:p14="http://schemas.microsoft.com/office/powerpoint/2010/main" val="2000008132"/>
              </p:ext>
            </p:extLst>
          </p:nvPr>
        </p:nvGraphicFramePr>
        <p:xfrm>
          <a:off x="664225" y="1447936"/>
          <a:ext cx="10520650" cy="4763067"/>
        </p:xfrm>
        <a:graphic>
          <a:graphicData uri="http://schemas.openxmlformats.org/drawingml/2006/table">
            <a:tbl>
              <a:tblPr firstRow="1" bandRow="1">
                <a:noFill/>
                <a:tableStyleId>{BBED7837-6BFD-48BB-8216-D878B6C9C336}</a:tableStyleId>
              </a:tblPr>
              <a:tblGrid>
                <a:gridCol w="77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300">
                <a:tc>
                  <a:txBody>
                    <a:bodyPr/>
                    <a:lstStyle/>
                    <a:p>
                      <a:pPr marL="57150" marR="0" lvl="0" indent="0" algn="ctr" rtl="0">
                        <a:lnSpc>
                          <a:spcPct val="116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[1]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YOLOv5 for PPE Detection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Nath et al., 2020</a:t>
                      </a:r>
                      <a:endParaRPr sz="16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~88% accuracy in PPE detection, but focused   only on  helmets/vests, ignoring worker behavior.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300">
                <a:tc>
                  <a:txBody>
                    <a:bodyPr/>
                    <a:lstStyle/>
                    <a:p>
                      <a:pPr marL="5715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[2]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l" rtl="0">
                        <a:lnSpc>
                          <a:spcPct val="114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Pose Estimation in Industrial Safety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150" marR="65024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 et al., 2017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Accurately detects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posture variations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but tested mainly in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 conditions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not real sites.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250">
                <a:tc>
                  <a:txBody>
                    <a:bodyPr/>
                    <a:lstStyle/>
                    <a:p>
                      <a:pPr marL="5715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[3]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SORT / ByteTrack Tracking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Bewley et al., 2016; Zhang et al., 2022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Preserve object identity across frames, but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 analyze worker safety context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875">
                <a:tc>
                  <a:txBody>
                    <a:bodyPr/>
                    <a:lstStyle/>
                    <a:p>
                      <a:pPr marL="5715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[4]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l" rtl="0">
                        <a:lnSpc>
                          <a:spcPct val="11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YOLOv3 &amp; YOLOv4 Advances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Redmon, Bochkovskiy et al.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19050" marR="88265" lvl="0" indent="0" algn="ctr" rtl="0">
                        <a:lnSpc>
                          <a:spcPct val="107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Improved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 detection speed &amp; accuracy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but lacked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behavioral analytics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5715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[5]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Vision + IoT Safety Systems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150" marR="0" lvl="0" indent="0" algn="l" rtl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Emerging Work, 2021–2023</a:t>
                      </a:r>
                      <a:endParaRPr sz="16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905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Real-time alerts via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camera networks &amp; IoT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but still in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early development stage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795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9" name="Google Shape;419;p49"/>
          <p:cNvSpPr txBox="1"/>
          <p:nvPr/>
        </p:nvSpPr>
        <p:spPr>
          <a:xfrm>
            <a:off x="892250" y="990100"/>
            <a:ext cx="3109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1. Literature Survey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/>
          <p:nvPr/>
        </p:nvSpPr>
        <p:spPr>
          <a:xfrm>
            <a:off x="4482455" y="82885"/>
            <a:ext cx="32271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0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425" name="Google Shape;425;p50" title="Methodology - visual selection.png"/>
          <p:cNvPicPr preferRelativeResize="0"/>
          <p:nvPr/>
        </p:nvPicPr>
        <p:blipFill rotWithShape="1">
          <a:blip r:embed="rId3">
            <a:alphaModFix/>
          </a:blip>
          <a:srcRect t="12902" b="4179"/>
          <a:stretch/>
        </p:blipFill>
        <p:spPr>
          <a:xfrm>
            <a:off x="8066050" y="821940"/>
            <a:ext cx="3227100" cy="589888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0"/>
          <p:cNvSpPr txBox="1"/>
          <p:nvPr/>
        </p:nvSpPr>
        <p:spPr>
          <a:xfrm>
            <a:off x="540150" y="1316400"/>
            <a:ext cx="3914700" cy="5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chemeClr val="dk1"/>
                </a:solidFill>
              </a:rPr>
              <a:t>Dataset</a:t>
            </a:r>
            <a:endParaRPr sz="1650" b="1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Construction Site Safety Dataset (10,000 images) from Kaggle via Roboflow</a:t>
            </a:r>
            <a:br>
              <a:rPr lang="en-US" sz="1650">
                <a:solidFill>
                  <a:schemeClr val="dk1"/>
                </a:solidFill>
              </a:rPr>
            </a:b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Split: 70% training, 20% validation, 10% testing</a:t>
            </a:r>
            <a:br>
              <a:rPr lang="en-US" sz="1650">
                <a:solidFill>
                  <a:schemeClr val="dk1"/>
                </a:solidFill>
              </a:rPr>
            </a:b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Pre-processing: resized (640×640), augmentation (flip, rotation)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chemeClr val="dk1"/>
                </a:solidFill>
              </a:rPr>
              <a:t>Model Architecture</a:t>
            </a:r>
            <a:endParaRPr sz="1650" b="1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 b="1">
                <a:solidFill>
                  <a:schemeClr val="dk1"/>
                </a:solidFill>
              </a:rPr>
              <a:t>YOLOv8</a:t>
            </a:r>
            <a:r>
              <a:rPr lang="en-US" sz="1650">
                <a:solidFill>
                  <a:schemeClr val="dk1"/>
                </a:solidFill>
              </a:rPr>
              <a:t> → PPE &amp; object detection</a:t>
            </a:r>
            <a:br>
              <a:rPr lang="en-US" sz="1650">
                <a:solidFill>
                  <a:schemeClr val="dk1"/>
                </a:solidFill>
              </a:rPr>
            </a:b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 b="1">
                <a:solidFill>
                  <a:schemeClr val="dk1"/>
                </a:solidFill>
              </a:rPr>
              <a:t>YOLOv8-Pose</a:t>
            </a:r>
            <a:r>
              <a:rPr lang="en-US" sz="1650">
                <a:solidFill>
                  <a:schemeClr val="dk1"/>
                </a:solidFill>
              </a:rPr>
              <a:t> → 17 keypoint human pose estimation</a:t>
            </a: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(Future scope: tracking with SORT/ByteTrack)</a:t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4733238" y="1316400"/>
            <a:ext cx="3633000" cy="3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chemeClr val="dk1"/>
                </a:solidFill>
              </a:rPr>
              <a:t>Training Setup</a:t>
            </a:r>
            <a:endParaRPr sz="1650" b="1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Pretrained weights (Ultralytics), 10 epochs, batch size 32</a:t>
            </a:r>
            <a:br>
              <a:rPr lang="en-US" sz="1650">
                <a:solidFill>
                  <a:schemeClr val="dk1"/>
                </a:solidFill>
              </a:rPr>
            </a:b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Optimizer: SGD</a:t>
            </a:r>
            <a:br>
              <a:rPr lang="en-US" sz="1650">
                <a:solidFill>
                  <a:schemeClr val="dk1"/>
                </a:solidFill>
              </a:rPr>
            </a:br>
            <a:endParaRPr sz="1650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Tools: Python, Colab GPU (Tesla T4), OpenCV, Pandas, Matplotlib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chemeClr val="dk1"/>
                </a:solidFill>
              </a:rPr>
              <a:t>Integration</a:t>
            </a:r>
            <a:endParaRPr sz="1650" b="1">
              <a:solidFill>
                <a:schemeClr val="dk1"/>
              </a:solidFill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-US" sz="1650">
                <a:solidFill>
                  <a:schemeClr val="dk1"/>
                </a:solidFill>
              </a:rPr>
              <a:t>Combines </a:t>
            </a:r>
            <a:r>
              <a:rPr lang="en-US" sz="1650" b="1">
                <a:solidFill>
                  <a:schemeClr val="dk1"/>
                </a:solidFill>
              </a:rPr>
              <a:t>PPE detection + posture analysis</a:t>
            </a:r>
            <a:r>
              <a:rPr lang="en-US" sz="1650">
                <a:solidFill>
                  <a:schemeClr val="dk1"/>
                </a:solidFill>
              </a:rPr>
              <a:t> → holistic safety monitoring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/>
        </p:nvSpPr>
        <p:spPr>
          <a:xfrm>
            <a:off x="4001770" y="214325"/>
            <a:ext cx="41886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475" rIns="0" bIns="0" anchor="t" anchorCtr="0">
            <a:spAutoFit/>
          </a:bodyPr>
          <a:lstStyle/>
          <a:p>
            <a:pPr marL="10401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236576" y="944137"/>
            <a:ext cx="11069915" cy="5892640"/>
          </a:xfrm>
          <a:custGeom>
            <a:avLst/>
            <a:gdLst/>
            <a:ahLst/>
            <a:cxnLst/>
            <a:rect l="l" t="t" r="r" b="b"/>
            <a:pathLst>
              <a:path w="13924421" h="7728053" extrusionOk="0">
                <a:moveTo>
                  <a:pt x="0" y="0"/>
                </a:moveTo>
                <a:lnTo>
                  <a:pt x="13924421" y="0"/>
                </a:lnTo>
                <a:lnTo>
                  <a:pt x="13924421" y="7728053"/>
                </a:lnTo>
                <a:lnTo>
                  <a:pt x="0" y="7728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solidFill>
              <a:schemeClr val="bg1"/>
            </a:solidFill>
          </a:ln>
        </p:spPr>
      </p:sp>
      <p:sp>
        <p:nvSpPr>
          <p:cNvPr id="435" name="Google Shape;435;p51"/>
          <p:cNvSpPr txBox="1"/>
          <p:nvPr/>
        </p:nvSpPr>
        <p:spPr>
          <a:xfrm>
            <a:off x="4659099" y="6375077"/>
            <a:ext cx="176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1.Workflow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 txBox="1"/>
          <p:nvPr/>
        </p:nvSpPr>
        <p:spPr>
          <a:xfrm>
            <a:off x="4156075" y="278079"/>
            <a:ext cx="40341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1" name="Google Shape;441;p52"/>
          <p:cNvGrpSpPr/>
          <p:nvPr/>
        </p:nvGrpSpPr>
        <p:grpSpPr>
          <a:xfrm>
            <a:off x="7448550" y="5045344"/>
            <a:ext cx="4148454" cy="530225"/>
            <a:chOff x="7448550" y="4374794"/>
            <a:chExt cx="4148454" cy="530225"/>
          </a:xfrm>
        </p:grpSpPr>
        <p:sp>
          <p:nvSpPr>
            <p:cNvPr id="442" name="Google Shape;442;p52"/>
            <p:cNvSpPr/>
            <p:nvPr/>
          </p:nvSpPr>
          <p:spPr>
            <a:xfrm>
              <a:off x="7448550" y="4374794"/>
              <a:ext cx="4148454" cy="530225"/>
            </a:xfrm>
            <a:custGeom>
              <a:avLst/>
              <a:gdLst/>
              <a:ahLst/>
              <a:cxnLst/>
              <a:rect l="l" t="t" r="r" b="b"/>
              <a:pathLst>
                <a:path w="4148454" h="530225" extrusionOk="0">
                  <a:moveTo>
                    <a:pt x="4148328" y="0"/>
                  </a:moveTo>
                  <a:lnTo>
                    <a:pt x="0" y="0"/>
                  </a:lnTo>
                  <a:lnTo>
                    <a:pt x="0" y="530199"/>
                  </a:lnTo>
                  <a:lnTo>
                    <a:pt x="4148328" y="530199"/>
                  </a:lnTo>
                  <a:lnTo>
                    <a:pt x="4148328" y="0"/>
                  </a:lnTo>
                  <a:close/>
                </a:path>
              </a:pathLst>
            </a:custGeom>
            <a:solidFill>
              <a:srgbClr val="F9C0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2"/>
            <p:cNvSpPr/>
            <p:nvPr/>
          </p:nvSpPr>
          <p:spPr>
            <a:xfrm>
              <a:off x="7448550" y="4374794"/>
              <a:ext cx="4148454" cy="530225"/>
            </a:xfrm>
            <a:custGeom>
              <a:avLst/>
              <a:gdLst/>
              <a:ahLst/>
              <a:cxnLst/>
              <a:rect l="l" t="t" r="r" b="b"/>
              <a:pathLst>
                <a:path w="4148454" h="530225" extrusionOk="0">
                  <a:moveTo>
                    <a:pt x="0" y="530199"/>
                  </a:moveTo>
                  <a:lnTo>
                    <a:pt x="4148328" y="530199"/>
                  </a:lnTo>
                  <a:lnTo>
                    <a:pt x="4148328" y="0"/>
                  </a:lnTo>
                  <a:lnTo>
                    <a:pt x="0" y="0"/>
                  </a:lnTo>
                  <a:lnTo>
                    <a:pt x="0" y="530199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" name="Google Shape;444;p52"/>
          <p:cNvSpPr txBox="1"/>
          <p:nvPr/>
        </p:nvSpPr>
        <p:spPr>
          <a:xfrm>
            <a:off x="7461250" y="5135107"/>
            <a:ext cx="4123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9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Output/Review (Transcript + Insights)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5" name="Google Shape;445;p52"/>
          <p:cNvGrpSpPr/>
          <p:nvPr/>
        </p:nvGrpSpPr>
        <p:grpSpPr>
          <a:xfrm>
            <a:off x="7448550" y="4237853"/>
            <a:ext cx="4148454" cy="815975"/>
            <a:chOff x="7448550" y="3567303"/>
            <a:chExt cx="4148454" cy="815975"/>
          </a:xfrm>
        </p:grpSpPr>
        <p:sp>
          <p:nvSpPr>
            <p:cNvPr id="446" name="Google Shape;446;p52"/>
            <p:cNvSpPr/>
            <p:nvPr/>
          </p:nvSpPr>
          <p:spPr>
            <a:xfrm>
              <a:off x="7448550" y="3567303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0"/>
                  </a:moveTo>
                  <a:lnTo>
                    <a:pt x="0" y="0"/>
                  </a:lnTo>
                  <a:lnTo>
                    <a:pt x="0" y="529844"/>
                  </a:lnTo>
                  <a:lnTo>
                    <a:pt x="1972182" y="529844"/>
                  </a:lnTo>
                  <a:lnTo>
                    <a:pt x="1972182" y="611632"/>
                  </a:lnTo>
                  <a:lnTo>
                    <a:pt x="1870328" y="611632"/>
                  </a:lnTo>
                  <a:lnTo>
                    <a:pt x="2074164" y="815467"/>
                  </a:lnTo>
                  <a:lnTo>
                    <a:pt x="2277999" y="611632"/>
                  </a:lnTo>
                  <a:lnTo>
                    <a:pt x="2176018" y="611632"/>
                  </a:lnTo>
                  <a:lnTo>
                    <a:pt x="2176018" y="529844"/>
                  </a:lnTo>
                  <a:lnTo>
                    <a:pt x="4148328" y="529844"/>
                  </a:lnTo>
                  <a:lnTo>
                    <a:pt x="4148328" y="0"/>
                  </a:lnTo>
                  <a:close/>
                </a:path>
              </a:pathLst>
            </a:custGeom>
            <a:solidFill>
              <a:srgbClr val="B3A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2"/>
            <p:cNvSpPr/>
            <p:nvPr/>
          </p:nvSpPr>
          <p:spPr>
            <a:xfrm>
              <a:off x="7448550" y="3567303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529844"/>
                  </a:moveTo>
                  <a:lnTo>
                    <a:pt x="2176018" y="529844"/>
                  </a:lnTo>
                  <a:lnTo>
                    <a:pt x="2176018" y="611632"/>
                  </a:lnTo>
                  <a:lnTo>
                    <a:pt x="2277999" y="611632"/>
                  </a:lnTo>
                  <a:lnTo>
                    <a:pt x="2074164" y="815467"/>
                  </a:lnTo>
                  <a:lnTo>
                    <a:pt x="1870328" y="611632"/>
                  </a:lnTo>
                  <a:lnTo>
                    <a:pt x="1972182" y="611632"/>
                  </a:lnTo>
                  <a:lnTo>
                    <a:pt x="1972182" y="529844"/>
                  </a:lnTo>
                  <a:lnTo>
                    <a:pt x="0" y="529844"/>
                  </a:lnTo>
                  <a:lnTo>
                    <a:pt x="0" y="0"/>
                  </a:lnTo>
                  <a:lnTo>
                    <a:pt x="4148328" y="0"/>
                  </a:lnTo>
                  <a:lnTo>
                    <a:pt x="4148328" y="529844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52"/>
          <p:cNvSpPr txBox="1"/>
          <p:nvPr/>
        </p:nvSpPr>
        <p:spPr>
          <a:xfrm>
            <a:off x="7436099" y="4326700"/>
            <a:ext cx="4148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Training (10k Images, 70/20/10 Split)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52"/>
          <p:cNvGrpSpPr/>
          <p:nvPr/>
        </p:nvGrpSpPr>
        <p:grpSpPr>
          <a:xfrm>
            <a:off x="7448550" y="3430386"/>
            <a:ext cx="4148454" cy="815975"/>
            <a:chOff x="7448550" y="2759836"/>
            <a:chExt cx="4148454" cy="815975"/>
          </a:xfrm>
        </p:grpSpPr>
        <p:sp>
          <p:nvSpPr>
            <p:cNvPr id="450" name="Google Shape;450;p52"/>
            <p:cNvSpPr/>
            <p:nvPr/>
          </p:nvSpPr>
          <p:spPr>
            <a:xfrm>
              <a:off x="7448550" y="2759836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0"/>
                  </a:moveTo>
                  <a:lnTo>
                    <a:pt x="0" y="0"/>
                  </a:lnTo>
                  <a:lnTo>
                    <a:pt x="0" y="529843"/>
                  </a:lnTo>
                  <a:lnTo>
                    <a:pt x="1972182" y="529843"/>
                  </a:lnTo>
                  <a:lnTo>
                    <a:pt x="1972182" y="611504"/>
                  </a:lnTo>
                  <a:lnTo>
                    <a:pt x="1870328" y="611504"/>
                  </a:lnTo>
                  <a:lnTo>
                    <a:pt x="2074164" y="815466"/>
                  </a:lnTo>
                  <a:lnTo>
                    <a:pt x="2277999" y="611504"/>
                  </a:lnTo>
                  <a:lnTo>
                    <a:pt x="2176018" y="611504"/>
                  </a:lnTo>
                  <a:lnTo>
                    <a:pt x="2176018" y="529843"/>
                  </a:lnTo>
                  <a:lnTo>
                    <a:pt x="4148328" y="529843"/>
                  </a:lnTo>
                  <a:lnTo>
                    <a:pt x="4148328" y="0"/>
                  </a:lnTo>
                  <a:close/>
                </a:path>
              </a:pathLst>
            </a:custGeom>
            <a:solidFill>
              <a:srgbClr val="B7DEE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2"/>
            <p:cNvSpPr/>
            <p:nvPr/>
          </p:nvSpPr>
          <p:spPr>
            <a:xfrm>
              <a:off x="7448550" y="2759836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529843"/>
                  </a:moveTo>
                  <a:lnTo>
                    <a:pt x="2176018" y="529843"/>
                  </a:lnTo>
                  <a:lnTo>
                    <a:pt x="2176018" y="611504"/>
                  </a:lnTo>
                  <a:lnTo>
                    <a:pt x="2277999" y="611504"/>
                  </a:lnTo>
                  <a:lnTo>
                    <a:pt x="2074164" y="815466"/>
                  </a:lnTo>
                  <a:lnTo>
                    <a:pt x="1870328" y="611504"/>
                  </a:lnTo>
                  <a:lnTo>
                    <a:pt x="1972182" y="611504"/>
                  </a:lnTo>
                  <a:lnTo>
                    <a:pt x="1972182" y="529843"/>
                  </a:lnTo>
                  <a:lnTo>
                    <a:pt x="0" y="529843"/>
                  </a:lnTo>
                  <a:lnTo>
                    <a:pt x="0" y="0"/>
                  </a:lnTo>
                  <a:lnTo>
                    <a:pt x="4148328" y="0"/>
                  </a:lnTo>
                  <a:lnTo>
                    <a:pt x="4148328" y="529843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52"/>
          <p:cNvSpPr txBox="1"/>
          <p:nvPr/>
        </p:nvSpPr>
        <p:spPr>
          <a:xfrm>
            <a:off x="7438342" y="3693413"/>
            <a:ext cx="4123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Processing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52"/>
          <p:cNvGrpSpPr/>
          <p:nvPr/>
        </p:nvGrpSpPr>
        <p:grpSpPr>
          <a:xfrm>
            <a:off x="7448550" y="2622794"/>
            <a:ext cx="4148454" cy="815975"/>
            <a:chOff x="7448550" y="1952244"/>
            <a:chExt cx="4148454" cy="815975"/>
          </a:xfrm>
        </p:grpSpPr>
        <p:sp>
          <p:nvSpPr>
            <p:cNvPr id="454" name="Google Shape;454;p52"/>
            <p:cNvSpPr/>
            <p:nvPr/>
          </p:nvSpPr>
          <p:spPr>
            <a:xfrm>
              <a:off x="7448550" y="1952244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0"/>
                  </a:moveTo>
                  <a:lnTo>
                    <a:pt x="0" y="0"/>
                  </a:lnTo>
                  <a:lnTo>
                    <a:pt x="0" y="529970"/>
                  </a:lnTo>
                  <a:lnTo>
                    <a:pt x="1972182" y="529970"/>
                  </a:lnTo>
                  <a:lnTo>
                    <a:pt x="1972182" y="611631"/>
                  </a:lnTo>
                  <a:lnTo>
                    <a:pt x="1870328" y="611631"/>
                  </a:lnTo>
                  <a:lnTo>
                    <a:pt x="2074164" y="815466"/>
                  </a:lnTo>
                  <a:lnTo>
                    <a:pt x="2277999" y="611631"/>
                  </a:lnTo>
                  <a:lnTo>
                    <a:pt x="2176018" y="611631"/>
                  </a:lnTo>
                  <a:lnTo>
                    <a:pt x="2176018" y="529970"/>
                  </a:lnTo>
                  <a:lnTo>
                    <a:pt x="4148328" y="529970"/>
                  </a:lnTo>
                  <a:lnTo>
                    <a:pt x="4148328" y="0"/>
                  </a:lnTo>
                  <a:close/>
                </a:path>
              </a:pathLst>
            </a:custGeom>
            <a:solidFill>
              <a:srgbClr val="E6B8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2"/>
            <p:cNvSpPr/>
            <p:nvPr/>
          </p:nvSpPr>
          <p:spPr>
            <a:xfrm>
              <a:off x="7448550" y="1952244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529970"/>
                  </a:moveTo>
                  <a:lnTo>
                    <a:pt x="2176018" y="529970"/>
                  </a:lnTo>
                  <a:lnTo>
                    <a:pt x="2176018" y="611631"/>
                  </a:lnTo>
                  <a:lnTo>
                    <a:pt x="2277999" y="611631"/>
                  </a:lnTo>
                  <a:lnTo>
                    <a:pt x="2074164" y="815466"/>
                  </a:lnTo>
                  <a:lnTo>
                    <a:pt x="1870328" y="611631"/>
                  </a:lnTo>
                  <a:lnTo>
                    <a:pt x="1972182" y="611631"/>
                  </a:lnTo>
                  <a:lnTo>
                    <a:pt x="1972182" y="529970"/>
                  </a:lnTo>
                  <a:lnTo>
                    <a:pt x="0" y="529970"/>
                  </a:lnTo>
                  <a:lnTo>
                    <a:pt x="0" y="0"/>
                  </a:lnTo>
                  <a:lnTo>
                    <a:pt x="4148328" y="0"/>
                  </a:lnTo>
                  <a:lnTo>
                    <a:pt x="4148328" y="52997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52"/>
          <p:cNvSpPr txBox="1"/>
          <p:nvPr/>
        </p:nvSpPr>
        <p:spPr>
          <a:xfrm>
            <a:off x="7448700" y="2622800"/>
            <a:ext cx="4148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Preprocessing (Resize 640×640, Augmentation, YOLO format)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52"/>
          <p:cNvGrpSpPr/>
          <p:nvPr/>
        </p:nvGrpSpPr>
        <p:grpSpPr>
          <a:xfrm>
            <a:off x="7448550" y="1815327"/>
            <a:ext cx="4148454" cy="815975"/>
            <a:chOff x="7448550" y="1144777"/>
            <a:chExt cx="4148454" cy="815975"/>
          </a:xfrm>
        </p:grpSpPr>
        <p:sp>
          <p:nvSpPr>
            <p:cNvPr id="458" name="Google Shape;458;p52"/>
            <p:cNvSpPr/>
            <p:nvPr/>
          </p:nvSpPr>
          <p:spPr>
            <a:xfrm>
              <a:off x="7448550" y="1144777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0"/>
                  </a:moveTo>
                  <a:lnTo>
                    <a:pt x="0" y="0"/>
                  </a:lnTo>
                  <a:lnTo>
                    <a:pt x="0" y="529844"/>
                  </a:lnTo>
                  <a:lnTo>
                    <a:pt x="1972182" y="529844"/>
                  </a:lnTo>
                  <a:lnTo>
                    <a:pt x="1972182" y="611632"/>
                  </a:lnTo>
                  <a:lnTo>
                    <a:pt x="1870328" y="611632"/>
                  </a:lnTo>
                  <a:lnTo>
                    <a:pt x="2074164" y="815467"/>
                  </a:lnTo>
                  <a:lnTo>
                    <a:pt x="2277999" y="611632"/>
                  </a:lnTo>
                  <a:lnTo>
                    <a:pt x="2176018" y="611632"/>
                  </a:lnTo>
                  <a:lnTo>
                    <a:pt x="2176018" y="529844"/>
                  </a:lnTo>
                  <a:lnTo>
                    <a:pt x="4148328" y="529844"/>
                  </a:lnTo>
                  <a:lnTo>
                    <a:pt x="4148328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2"/>
            <p:cNvSpPr/>
            <p:nvPr/>
          </p:nvSpPr>
          <p:spPr>
            <a:xfrm>
              <a:off x="7448550" y="1144777"/>
              <a:ext cx="4148454" cy="815975"/>
            </a:xfrm>
            <a:custGeom>
              <a:avLst/>
              <a:gdLst/>
              <a:ahLst/>
              <a:cxnLst/>
              <a:rect l="l" t="t" r="r" b="b"/>
              <a:pathLst>
                <a:path w="4148454" h="815975" extrusionOk="0">
                  <a:moveTo>
                    <a:pt x="4148328" y="529844"/>
                  </a:moveTo>
                  <a:lnTo>
                    <a:pt x="2176018" y="529844"/>
                  </a:lnTo>
                  <a:lnTo>
                    <a:pt x="2176018" y="611632"/>
                  </a:lnTo>
                  <a:lnTo>
                    <a:pt x="2277999" y="611632"/>
                  </a:lnTo>
                  <a:lnTo>
                    <a:pt x="2074164" y="815467"/>
                  </a:lnTo>
                  <a:lnTo>
                    <a:pt x="1870328" y="611632"/>
                  </a:lnTo>
                  <a:lnTo>
                    <a:pt x="1972182" y="611632"/>
                  </a:lnTo>
                  <a:lnTo>
                    <a:pt x="1972182" y="529844"/>
                  </a:lnTo>
                  <a:lnTo>
                    <a:pt x="0" y="529844"/>
                  </a:lnTo>
                  <a:lnTo>
                    <a:pt x="0" y="0"/>
                  </a:lnTo>
                  <a:lnTo>
                    <a:pt x="4148328" y="0"/>
                  </a:lnTo>
                  <a:lnTo>
                    <a:pt x="4148328" y="529844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2"/>
          <p:cNvSpPr txBox="1"/>
          <p:nvPr/>
        </p:nvSpPr>
        <p:spPr>
          <a:xfrm>
            <a:off x="7482898" y="1904225"/>
            <a:ext cx="4034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Input (Site Images/Videos)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2"/>
          <p:cNvSpPr txBox="1"/>
          <p:nvPr/>
        </p:nvSpPr>
        <p:spPr>
          <a:xfrm>
            <a:off x="217075" y="1234662"/>
            <a:ext cx="7139018" cy="562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</a:rPr>
              <a:t>1️⃣ </a:t>
            </a:r>
            <a:r>
              <a:rPr lang="en-US" sz="1500" b="1" dirty="0">
                <a:solidFill>
                  <a:schemeClr val="dk1"/>
                </a:solidFill>
              </a:rPr>
              <a:t>Input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dirty="0">
                <a:solidFill>
                  <a:schemeClr val="dk1"/>
                </a:solidFill>
              </a:rPr>
              <a:t>Construction site images/videos → Pre-processed (640×640, YOLO format,          augmented).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</a:rPr>
              <a:t>2️⃣ </a:t>
            </a:r>
            <a:r>
              <a:rPr lang="en-US" sz="1500" b="1" dirty="0">
                <a:solidFill>
                  <a:schemeClr val="dk1"/>
                </a:solidFill>
              </a:rPr>
              <a:t>Processing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YOLOv8n → Object &amp; PPE detection (helmet, mask, vest).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YOLOv8n-pose → Human pose estimation (17 </a:t>
            </a:r>
            <a:r>
              <a:rPr lang="en-US" sz="1500" dirty="0" err="1">
                <a:solidFill>
                  <a:schemeClr val="dk1"/>
                </a:solidFill>
              </a:rPr>
              <a:t>keypoints</a:t>
            </a:r>
            <a:r>
              <a:rPr lang="en-US" sz="1500" dirty="0">
                <a:solidFill>
                  <a:schemeClr val="dk1"/>
                </a:solidFill>
              </a:rPr>
              <a:t>).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</a:rPr>
              <a:t>3️⃣ </a:t>
            </a:r>
            <a:r>
              <a:rPr lang="en-US" sz="1500" b="1" dirty="0">
                <a:solidFill>
                  <a:schemeClr val="dk1"/>
                </a:solidFill>
              </a:rPr>
              <a:t>Training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Dataset: ~10,000 images (Kaggle + </a:t>
            </a:r>
            <a:r>
              <a:rPr lang="en-US" sz="1500" dirty="0" err="1">
                <a:solidFill>
                  <a:schemeClr val="dk1"/>
                </a:solidFill>
              </a:rPr>
              <a:t>Roboflow</a:t>
            </a:r>
            <a:r>
              <a:rPr lang="en-US" sz="1500" dirty="0">
                <a:solidFill>
                  <a:schemeClr val="dk1"/>
                </a:solidFill>
              </a:rPr>
              <a:t>).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Split: 70% train, 20% validation, 10% test.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Optimizer: SGD, Batch size 32, 10 epochs.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</a:rPr>
              <a:t>4️⃣ </a:t>
            </a:r>
            <a:r>
              <a:rPr lang="en-US" sz="1500" b="1" dirty="0">
                <a:solidFill>
                  <a:schemeClr val="dk1"/>
                </a:solidFill>
              </a:rPr>
              <a:t>Output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Detections → Worker + PPE compliance status.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Pose estimation → Unsafe behavior indicators.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Performance: mAP@0.5 = 0.667, Precision = 0.829.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chemeClr val="dk1"/>
                </a:solidFill>
              </a:rPr>
              <a:t>5️⃣ </a:t>
            </a:r>
            <a:r>
              <a:rPr lang="en-US" sz="1500" b="1" dirty="0">
                <a:solidFill>
                  <a:schemeClr val="dk1"/>
                </a:solidFill>
              </a:rPr>
              <a:t>Tools &amp; Environment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Python (</a:t>
            </a:r>
            <a:r>
              <a:rPr lang="en-US" sz="1500" dirty="0" err="1">
                <a:solidFill>
                  <a:schemeClr val="dk1"/>
                </a:solidFill>
              </a:rPr>
              <a:t>Colab</a:t>
            </a:r>
            <a:r>
              <a:rPr lang="en-US" sz="1500" dirty="0">
                <a:solidFill>
                  <a:schemeClr val="dk1"/>
                </a:solidFill>
              </a:rPr>
              <a:t> GPU: Tesla T4).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Libraries: </a:t>
            </a:r>
            <a:r>
              <a:rPr lang="en-US" sz="1500" dirty="0" err="1">
                <a:solidFill>
                  <a:schemeClr val="dk1"/>
                </a:solidFill>
              </a:rPr>
              <a:t>Ultralytics</a:t>
            </a:r>
            <a:r>
              <a:rPr lang="en-US" sz="1500" dirty="0">
                <a:solidFill>
                  <a:schemeClr val="dk1"/>
                </a:solidFill>
              </a:rPr>
              <a:t> YOLOv8, OpenCV, Pandas, NumPy, Seaborn, Matplotlib.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52"/>
          <p:cNvSpPr txBox="1"/>
          <p:nvPr/>
        </p:nvSpPr>
        <p:spPr>
          <a:xfrm>
            <a:off x="7999950" y="57903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2. Implementation Flow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 txBox="1"/>
          <p:nvPr/>
        </p:nvSpPr>
        <p:spPr>
          <a:xfrm>
            <a:off x="4001770" y="138125"/>
            <a:ext cx="41886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975" rIns="0" bIns="0" anchor="t" anchorCtr="0">
            <a:spAutoFit/>
          </a:bodyPr>
          <a:lstStyle/>
          <a:p>
            <a:pPr marL="14954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3"/>
          <p:cNvSpPr txBox="1"/>
          <p:nvPr/>
        </p:nvSpPr>
        <p:spPr>
          <a:xfrm>
            <a:off x="1274525" y="3618825"/>
            <a:ext cx="3055500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3.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Per Class Performances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53"/>
          <p:cNvSpPr txBox="1"/>
          <p:nvPr/>
        </p:nvSpPr>
        <p:spPr>
          <a:xfrm>
            <a:off x="1182300" y="6410175"/>
            <a:ext cx="4093500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5.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Overall Model Performance Metrices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7933885" y="6410175"/>
            <a:ext cx="4986300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6.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1" name="Google Shape;471;p53" title="per_class_performance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75" y="1058800"/>
            <a:ext cx="4188600" cy="262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5575" y="3908625"/>
            <a:ext cx="4336600" cy="25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4375" y="3926650"/>
            <a:ext cx="4188601" cy="246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5625" y="1035675"/>
            <a:ext cx="4336500" cy="266852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3"/>
          <p:cNvSpPr txBox="1"/>
          <p:nvPr/>
        </p:nvSpPr>
        <p:spPr>
          <a:xfrm>
            <a:off x="6785625" y="3618825"/>
            <a:ext cx="5282400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4.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False Positives vs. True Positives per PPE Class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D26ED-D130-4741-9F5A-C9438B35ACCC}"/>
              </a:ext>
            </a:extLst>
          </p:cNvPr>
          <p:cNvSpPr/>
          <p:nvPr/>
        </p:nvSpPr>
        <p:spPr>
          <a:xfrm>
            <a:off x="805070" y="1035675"/>
            <a:ext cx="4731026" cy="284219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D1E551-55DE-7C06-FFD4-41710B000C06}"/>
              </a:ext>
            </a:extLst>
          </p:cNvPr>
          <p:cNvSpPr/>
          <p:nvPr/>
        </p:nvSpPr>
        <p:spPr>
          <a:xfrm>
            <a:off x="805070" y="3889440"/>
            <a:ext cx="4731026" cy="284219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8B90B6-837C-5B37-6CB8-CA42E3A71D54}"/>
              </a:ext>
            </a:extLst>
          </p:cNvPr>
          <p:cNvSpPr/>
          <p:nvPr/>
        </p:nvSpPr>
        <p:spPr>
          <a:xfrm>
            <a:off x="6655904" y="1003841"/>
            <a:ext cx="4731026" cy="287402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6EA4C-1C86-02BB-CD30-5A12C616C505}"/>
              </a:ext>
            </a:extLst>
          </p:cNvPr>
          <p:cNvSpPr/>
          <p:nvPr/>
        </p:nvSpPr>
        <p:spPr>
          <a:xfrm>
            <a:off x="6655904" y="3882048"/>
            <a:ext cx="4731026" cy="284219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4"/>
          <p:cNvSpPr txBox="1"/>
          <p:nvPr/>
        </p:nvSpPr>
        <p:spPr>
          <a:xfrm>
            <a:off x="4001770" y="138125"/>
            <a:ext cx="41886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975" rIns="0" bIns="0" anchor="t" anchorCtr="0">
            <a:spAutoFit/>
          </a:bodyPr>
          <a:lstStyle/>
          <a:p>
            <a:pPr marL="14954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54"/>
          <p:cNvSpPr txBox="1"/>
          <p:nvPr/>
        </p:nvSpPr>
        <p:spPr>
          <a:xfrm>
            <a:off x="253500" y="3222450"/>
            <a:ext cx="36504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7.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output with multiple workers on-site</a:t>
            </a:r>
            <a:endParaRPr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54"/>
          <p:cNvSpPr txBox="1"/>
          <p:nvPr/>
        </p:nvSpPr>
        <p:spPr>
          <a:xfrm>
            <a:off x="8602600" y="3207150"/>
            <a:ext cx="2873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8.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output showing keypoint detection under occlusion.</a:t>
            </a:r>
            <a:endParaRPr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54"/>
          <p:cNvSpPr txBox="1"/>
          <p:nvPr/>
        </p:nvSpPr>
        <p:spPr>
          <a:xfrm>
            <a:off x="405900" y="5990400"/>
            <a:ext cx="34980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9.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prediction output demonstrating object detection and pose estimation on a construction site image.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4215900" y="5127450"/>
            <a:ext cx="3650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10.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prediction output: pose estimation results</a:t>
            </a:r>
            <a:endParaRPr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8602600" y="6205950"/>
            <a:ext cx="3650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11.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Sample output with multiple workers on-site</a:t>
            </a:r>
            <a:endParaRPr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" name="Google Shape;4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00" y="989725"/>
            <a:ext cx="3217700" cy="2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0000" y="2365200"/>
            <a:ext cx="37338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0700" y="989725"/>
            <a:ext cx="3615700" cy="223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488" y="3531975"/>
            <a:ext cx="3217710" cy="23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1650" y="3613200"/>
            <a:ext cx="3733800" cy="23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/>
        </p:nvSpPr>
        <p:spPr>
          <a:xfrm>
            <a:off x="505050" y="1192325"/>
            <a:ext cx="11181900" cy="49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Proposed </a:t>
            </a:r>
            <a:r>
              <a:rPr lang="en-US" sz="1700" b="1">
                <a:solidFill>
                  <a:schemeClr val="dk1"/>
                </a:solidFill>
              </a:rPr>
              <a:t>Vision-Based Safety Monitoring System</a:t>
            </a:r>
            <a:r>
              <a:rPr lang="en-US" sz="1700">
                <a:solidFill>
                  <a:schemeClr val="dk1"/>
                </a:solidFill>
              </a:rPr>
              <a:t> → combines </a:t>
            </a:r>
            <a:r>
              <a:rPr lang="en-US" sz="1700" b="1">
                <a:solidFill>
                  <a:schemeClr val="dk1"/>
                </a:solidFill>
              </a:rPr>
              <a:t>YOLOv8 object detection</a:t>
            </a:r>
            <a:r>
              <a:rPr lang="en-US" sz="1700">
                <a:solidFill>
                  <a:schemeClr val="dk1"/>
                </a:solidFill>
              </a:rPr>
              <a:t> and </a:t>
            </a:r>
            <a:r>
              <a:rPr lang="en-US" sz="1700" b="1">
                <a:solidFill>
                  <a:schemeClr val="dk1"/>
                </a:solidFill>
              </a:rPr>
              <a:t>human pose estimation</a:t>
            </a:r>
            <a:r>
              <a:rPr lang="en-US" sz="1700">
                <a:solidFill>
                  <a:schemeClr val="dk1"/>
                </a:solidFill>
              </a:rPr>
              <a:t> for comprehensive on-site safety.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Achieved </a:t>
            </a:r>
            <a:r>
              <a:rPr lang="en-US" sz="1700" b="1">
                <a:solidFill>
                  <a:schemeClr val="dk1"/>
                </a:solidFill>
              </a:rPr>
              <a:t>high precision (0.829)</a:t>
            </a:r>
            <a:r>
              <a:rPr lang="en-US" sz="1700">
                <a:solidFill>
                  <a:schemeClr val="dk1"/>
                </a:solidFill>
              </a:rPr>
              <a:t> and </a:t>
            </a:r>
            <a:r>
              <a:rPr lang="en-US" sz="1700" b="1">
                <a:solidFill>
                  <a:schemeClr val="dk1"/>
                </a:solidFill>
              </a:rPr>
              <a:t>competitive mAP@0.5 (0.667)</a:t>
            </a:r>
            <a:r>
              <a:rPr lang="en-US" sz="1700">
                <a:solidFill>
                  <a:schemeClr val="dk1"/>
                </a:solidFill>
              </a:rPr>
              <a:t>, enabling </a:t>
            </a:r>
            <a:r>
              <a:rPr lang="en-US" sz="1700" b="1">
                <a:solidFill>
                  <a:schemeClr val="dk1"/>
                </a:solidFill>
              </a:rPr>
              <a:t>real-time PPE compliance checks</a:t>
            </a:r>
            <a:r>
              <a:rPr lang="en-US" sz="1700">
                <a:solidFill>
                  <a:schemeClr val="dk1"/>
                </a:solidFill>
              </a:rPr>
              <a:t> and </a:t>
            </a:r>
            <a:r>
              <a:rPr lang="en-US" sz="1700" b="1">
                <a:solidFill>
                  <a:schemeClr val="dk1"/>
                </a:solidFill>
              </a:rPr>
              <a:t>behavioral risk assessment</a:t>
            </a:r>
            <a:r>
              <a:rPr lang="en-US" sz="1700">
                <a:solidFill>
                  <a:schemeClr val="dk1"/>
                </a:solidFill>
              </a:rPr>
              <a:t>, outperforming traditional PPE-only systems.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Demonstrated strong potential for </a:t>
            </a:r>
            <a:r>
              <a:rPr lang="en-US" sz="1700" b="1">
                <a:solidFill>
                  <a:schemeClr val="dk1"/>
                </a:solidFill>
              </a:rPr>
              <a:t>reducing construction accidents</a:t>
            </a:r>
            <a:r>
              <a:rPr lang="en-US" sz="1700">
                <a:solidFill>
                  <a:schemeClr val="dk1"/>
                </a:solidFill>
              </a:rPr>
              <a:t>, </a:t>
            </a:r>
            <a:r>
              <a:rPr lang="en-US" sz="1700" b="1">
                <a:solidFill>
                  <a:schemeClr val="dk1"/>
                </a:solidFill>
              </a:rPr>
              <a:t>improving compliance</a:t>
            </a:r>
            <a:r>
              <a:rPr lang="en-US" sz="1700">
                <a:solidFill>
                  <a:schemeClr val="dk1"/>
                </a:solidFill>
              </a:rPr>
              <a:t>, and providing </a:t>
            </a:r>
            <a:r>
              <a:rPr lang="en-US" sz="1700" b="1">
                <a:solidFill>
                  <a:schemeClr val="dk1"/>
                </a:solidFill>
              </a:rPr>
              <a:t>scalable, automated safety solutions</a:t>
            </a:r>
            <a:r>
              <a:rPr lang="en-US" sz="1700">
                <a:solidFill>
                  <a:schemeClr val="dk1"/>
                </a:solidFill>
              </a:rPr>
              <a:t> in dynamic environments.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Future Directions →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Integration with </a:t>
            </a:r>
            <a:r>
              <a:rPr lang="en-US" sz="1700" b="1">
                <a:solidFill>
                  <a:schemeClr val="dk1"/>
                </a:solidFill>
              </a:rPr>
              <a:t>IoT-based alert systems</a:t>
            </a:r>
            <a:r>
              <a:rPr lang="en-US" sz="1700">
                <a:solidFill>
                  <a:schemeClr val="dk1"/>
                </a:solidFill>
              </a:rPr>
              <a:t> for proactive responses.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 b="1">
                <a:solidFill>
                  <a:schemeClr val="dk1"/>
                </a:solidFill>
              </a:rPr>
              <a:t>Continuous video monitoring</a:t>
            </a:r>
            <a:r>
              <a:rPr lang="en-US" sz="1700">
                <a:solidFill>
                  <a:schemeClr val="dk1"/>
                </a:solidFill>
              </a:rPr>
              <a:t> with SORT/ByteTrack tracking.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Fine-tuning </a:t>
            </a:r>
            <a:r>
              <a:rPr lang="en-US" sz="1700" b="1">
                <a:solidFill>
                  <a:schemeClr val="dk1"/>
                </a:solidFill>
              </a:rPr>
              <a:t>pose estimation</a:t>
            </a:r>
            <a:r>
              <a:rPr lang="en-US" sz="1700">
                <a:solidFill>
                  <a:schemeClr val="dk1"/>
                </a:solidFill>
              </a:rPr>
              <a:t> on construction-specific datasets.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Deployment in </a:t>
            </a:r>
            <a:r>
              <a:rPr lang="en-US" sz="1700" b="1">
                <a:solidFill>
                  <a:schemeClr val="dk1"/>
                </a:solidFill>
              </a:rPr>
              <a:t>real-world sites</a:t>
            </a:r>
            <a:r>
              <a:rPr lang="en-US" sz="1700">
                <a:solidFill>
                  <a:schemeClr val="dk1"/>
                </a:solidFill>
              </a:rPr>
              <a:t> for large-scale validation.</a:t>
            </a:r>
            <a:endParaRPr sz="17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3620770" y="138125"/>
            <a:ext cx="41886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975" rIns="0" bIns="0" anchor="t" anchorCtr="0">
            <a:spAutoFit/>
          </a:bodyPr>
          <a:lstStyle/>
          <a:p>
            <a:pPr marL="14954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/>
        </p:nvSpPr>
        <p:spPr>
          <a:xfrm>
            <a:off x="4001770" y="214325"/>
            <a:ext cx="41886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9213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4452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 b="1" i="0" u="none" strike="noStrike" cap="none">
              <a:solidFill>
                <a:srgbClr val="4452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56"/>
          <p:cNvSpPr txBox="1"/>
          <p:nvPr/>
        </p:nvSpPr>
        <p:spPr>
          <a:xfrm>
            <a:off x="886625" y="1216274"/>
            <a:ext cx="10238700" cy="53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OSHA – Commonly Used Statistics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3"/>
              </a:rPr>
              <a:t>https://www.osha.gov/data/commonstats</a:t>
            </a:r>
            <a:br>
              <a:rPr lang="en-US" sz="1500" u="sng" dirty="0">
                <a:solidFill>
                  <a:schemeClr val="hlink"/>
                </a:solidFill>
                <a:hlinkClick r:id="rId3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YOLOv3: An Incremental Improvement – Redmon &amp; Farhadi (2018)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4"/>
              </a:rPr>
              <a:t>https://arxiv.org/abs/1804.02767</a:t>
            </a:r>
            <a:br>
              <a:rPr lang="en-US" sz="1500" u="sng" dirty="0">
                <a:solidFill>
                  <a:schemeClr val="hlink"/>
                </a:solidFill>
                <a:hlinkClick r:id="rId4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YOLOv4: Optimal Speed and Accuracy – </a:t>
            </a:r>
            <a:r>
              <a:rPr lang="en-US" sz="1500" b="1" dirty="0" err="1">
                <a:solidFill>
                  <a:schemeClr val="dk1"/>
                </a:solidFill>
              </a:rPr>
              <a:t>Bochkovskiy</a:t>
            </a:r>
            <a:r>
              <a:rPr lang="en-US" sz="1500" b="1" dirty="0">
                <a:solidFill>
                  <a:schemeClr val="dk1"/>
                </a:solidFill>
              </a:rPr>
              <a:t> et al. (2020)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5"/>
              </a:rPr>
              <a:t>https://arxiv.org/abs/2004.10934</a:t>
            </a:r>
            <a:br>
              <a:rPr lang="en-US" sz="1500" u="sng" dirty="0">
                <a:solidFill>
                  <a:schemeClr val="hlink"/>
                </a:solidFill>
                <a:hlinkClick r:id="rId5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YOLOv5 for PPE Detection – Nath et al. (2020)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6"/>
              </a:rPr>
              <a:t>https://doi.org/10.1016/j.autcon.2020.103085</a:t>
            </a:r>
            <a:br>
              <a:rPr lang="en-US" sz="1500" u="sng" dirty="0">
                <a:solidFill>
                  <a:schemeClr val="hlink"/>
                </a:solidFill>
                <a:hlinkClick r:id="rId6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Realtime Multi-Person 2D Pose Estimation (</a:t>
            </a:r>
            <a:r>
              <a:rPr lang="en-US" sz="1500" b="1" dirty="0" err="1">
                <a:solidFill>
                  <a:schemeClr val="dk1"/>
                </a:solidFill>
              </a:rPr>
              <a:t>OpenPose</a:t>
            </a:r>
            <a:r>
              <a:rPr lang="en-US" sz="1500" b="1" dirty="0">
                <a:solidFill>
                  <a:schemeClr val="dk1"/>
                </a:solidFill>
              </a:rPr>
              <a:t>) – Cao et al. (2017)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7"/>
              </a:rPr>
              <a:t>https://arxiv.org/abs/1611.08050</a:t>
            </a:r>
            <a:br>
              <a:rPr lang="en-US" sz="1500" u="sng" dirty="0">
                <a:solidFill>
                  <a:schemeClr val="hlink"/>
                </a:solidFill>
                <a:hlinkClick r:id="rId7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SORT: Simple Online and Realtime Tracking – Bewley et al. (2016)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8"/>
              </a:rPr>
              <a:t>https://doi.org/10.1109/ICIP.2016.7533003</a:t>
            </a:r>
            <a:br>
              <a:rPr lang="en-US" sz="1500" u="sng" dirty="0">
                <a:solidFill>
                  <a:schemeClr val="hlink"/>
                </a:solidFill>
                <a:hlinkClick r:id="rId8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 err="1">
                <a:solidFill>
                  <a:schemeClr val="dk1"/>
                </a:solidFill>
              </a:rPr>
              <a:t>ByteTrack</a:t>
            </a:r>
            <a:r>
              <a:rPr lang="en-US" sz="1500" b="1" dirty="0">
                <a:solidFill>
                  <a:schemeClr val="dk1"/>
                </a:solidFill>
              </a:rPr>
              <a:t>: Multi-Object Tracking – Zhang et al. (2022)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9"/>
              </a:rPr>
              <a:t>https://arxiv.org/abs/2110.06864</a:t>
            </a:r>
            <a:br>
              <a:rPr lang="en-US" sz="1500" u="sng" dirty="0">
                <a:solidFill>
                  <a:schemeClr val="hlink"/>
                </a:solidFill>
                <a:hlinkClick r:id="rId9"/>
              </a:rPr>
            </a:br>
            <a:endParaRPr sz="1500" u="sng" dirty="0">
              <a:solidFill>
                <a:schemeClr val="hlink"/>
              </a:solidFill>
            </a:endParaRPr>
          </a:p>
          <a:p>
            <a:pPr marL="457200" marR="8255" lvl="0" indent="-323850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 dirty="0" err="1">
                <a:solidFill>
                  <a:schemeClr val="dk1"/>
                </a:solidFill>
              </a:rPr>
              <a:t>Ultralytics</a:t>
            </a:r>
            <a:r>
              <a:rPr lang="en-US" sz="1500" b="1" dirty="0">
                <a:solidFill>
                  <a:schemeClr val="dk1"/>
                </a:solidFill>
              </a:rPr>
              <a:t> YOLOv8 Documentation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 dirty="0">
                <a:solidFill>
                  <a:schemeClr val="hlink"/>
                </a:solidFill>
                <a:hlinkClick r:id="rId10"/>
              </a:rPr>
              <a:t>https://docs.ultralytics.com/models/yolov8/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"/>
          <p:cNvSpPr txBox="1">
            <a:spLocks noGrp="1"/>
          </p:cNvSpPr>
          <p:nvPr>
            <p:ph type="body" idx="4294967295"/>
          </p:nvPr>
        </p:nvSpPr>
        <p:spPr>
          <a:xfrm>
            <a:off x="101520" y="1038960"/>
            <a:ext cx="119784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75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75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7"/>
          <p:cNvSpPr/>
          <p:nvPr/>
        </p:nvSpPr>
        <p:spPr>
          <a:xfrm>
            <a:off x="4373280" y="3648960"/>
            <a:ext cx="32271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7"/>
          <p:cNvSpPr/>
          <p:nvPr/>
        </p:nvSpPr>
        <p:spPr>
          <a:xfrm>
            <a:off x="2078280" y="1588680"/>
            <a:ext cx="78171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6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7"/>
          <p:cNvSpPr txBox="1">
            <a:spLocks noGrp="1"/>
          </p:cNvSpPr>
          <p:nvPr>
            <p:ph type="sldNum" idx="12"/>
          </p:nvPr>
        </p:nvSpPr>
        <p:spPr>
          <a:xfrm>
            <a:off x="9341280" y="6523560"/>
            <a:ext cx="27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1415</Words>
  <Application>Microsoft Office PowerPoint</Application>
  <PresentationFormat>Widescreen</PresentationFormat>
  <Paragraphs>158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Outfit</vt:lpstr>
      <vt:lpstr>Times New Roman</vt:lpstr>
      <vt:lpstr>Office Theme</vt:lpstr>
      <vt:lpstr>Office Theme</vt:lpstr>
      <vt:lpstr>Office Theme</vt:lpstr>
      <vt:lpstr>9th International Conference on Computing, Communication, Control and Automation  (ICCUBEA-2025) </vt:lpstr>
      <vt:lpstr>Outline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CHANDRAKANT THAKARE</dc:creator>
  <cp:lastModifiedBy>chandrakant01thakare@gmail.com</cp:lastModifiedBy>
  <cp:revision>3</cp:revision>
  <dcterms:modified xsi:type="dcterms:W3CDTF">2025-08-21T17:24:23Z</dcterms:modified>
</cp:coreProperties>
</file>